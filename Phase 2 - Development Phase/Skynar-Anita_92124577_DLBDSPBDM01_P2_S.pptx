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17" r:id="rId1"/>
  </p:sldMasterIdLst>
  <p:notesMasterIdLst>
    <p:notesMasterId r:id="rId48"/>
  </p:notesMasterIdLst>
  <p:handoutMasterIdLst>
    <p:handoutMasterId r:id="rId49"/>
  </p:handoutMasterIdLst>
  <p:sldIdLst>
    <p:sldId id="256" r:id="rId2"/>
    <p:sldId id="266" r:id="rId3"/>
    <p:sldId id="353" r:id="rId4"/>
    <p:sldId id="379" r:id="rId5"/>
    <p:sldId id="352" r:id="rId6"/>
    <p:sldId id="257" r:id="rId7"/>
    <p:sldId id="261" r:id="rId8"/>
    <p:sldId id="380" r:id="rId9"/>
    <p:sldId id="381" r:id="rId10"/>
    <p:sldId id="356" r:id="rId11"/>
    <p:sldId id="355" r:id="rId12"/>
    <p:sldId id="382" r:id="rId13"/>
    <p:sldId id="357" r:id="rId14"/>
    <p:sldId id="370" r:id="rId15"/>
    <p:sldId id="394" r:id="rId16"/>
    <p:sldId id="383" r:id="rId17"/>
    <p:sldId id="375" r:id="rId18"/>
    <p:sldId id="371" r:id="rId19"/>
    <p:sldId id="384" r:id="rId20"/>
    <p:sldId id="377" r:id="rId21"/>
    <p:sldId id="385" r:id="rId22"/>
    <p:sldId id="368" r:id="rId23"/>
    <p:sldId id="378" r:id="rId24"/>
    <p:sldId id="363" r:id="rId25"/>
    <p:sldId id="386" r:id="rId26"/>
    <p:sldId id="387" r:id="rId27"/>
    <p:sldId id="372" r:id="rId28"/>
    <p:sldId id="358" r:id="rId29"/>
    <p:sldId id="388" r:id="rId30"/>
    <p:sldId id="389" r:id="rId31"/>
    <p:sldId id="359" r:id="rId32"/>
    <p:sldId id="367" r:id="rId33"/>
    <p:sldId id="390" r:id="rId34"/>
    <p:sldId id="376" r:id="rId35"/>
    <p:sldId id="366" r:id="rId36"/>
    <p:sldId id="391" r:id="rId37"/>
    <p:sldId id="365" r:id="rId38"/>
    <p:sldId id="392" r:id="rId39"/>
    <p:sldId id="361" r:id="rId40"/>
    <p:sldId id="374" r:id="rId41"/>
    <p:sldId id="393" r:id="rId42"/>
    <p:sldId id="360" r:id="rId43"/>
    <p:sldId id="373" r:id="rId44"/>
    <p:sldId id="362" r:id="rId45"/>
    <p:sldId id="350" r:id="rId46"/>
    <p:sldId id="354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 autoAdjust="0"/>
    <p:restoredTop sz="96292" autoAdjust="0"/>
  </p:normalViewPr>
  <p:slideViewPr>
    <p:cSldViewPr snapToGrid="0" snapToObjects="1">
      <p:cViewPr varScale="1">
        <p:scale>
          <a:sx n="105" d="100"/>
          <a:sy n="105" d="100"/>
        </p:scale>
        <p:origin x="2610" y="-9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7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294"/>
    </p:cViewPr>
  </p:sorterViewPr>
  <p:notesViewPr>
    <p:cSldViewPr snapToGrid="0" snapToObjects="1">
      <p:cViewPr varScale="1">
        <p:scale>
          <a:sx n="49" d="100"/>
          <a:sy n="49" d="100"/>
        </p:scale>
        <p:origin x="1879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4E12BA-E506-42CF-9858-3E1ACA85EED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6AE476-CFE4-4F87-93F9-9184191EF770}">
      <dgm:prSet custT="1"/>
      <dgm:spPr/>
      <dgm:t>
        <a:bodyPr/>
        <a:lstStyle/>
        <a:p>
          <a:r>
            <a:rPr lang="en-US" sz="1700" b="1" kern="1200" dirty="0">
              <a:solidFill>
                <a:srgbClr val="FFC000"/>
              </a:solidFill>
              <a:latin typeface="Corbel" panose="020B0503020204020204"/>
              <a:ea typeface="+mn-ea"/>
              <a:cs typeface="+mn-cs"/>
            </a:rPr>
            <a:t>Introduction</a:t>
          </a:r>
        </a:p>
      </dgm:t>
    </dgm:pt>
    <dgm:pt modelId="{8AC54F28-8C85-426B-811F-A68A778FE87D}" type="parTrans" cxnId="{D81FF019-4D14-4A7A-B070-DBCB69FE78D1}">
      <dgm:prSet/>
      <dgm:spPr/>
      <dgm:t>
        <a:bodyPr/>
        <a:lstStyle/>
        <a:p>
          <a:endParaRPr lang="en-US"/>
        </a:p>
      </dgm:t>
    </dgm:pt>
    <dgm:pt modelId="{DC63C97D-0B64-48EB-BE0E-7F9D5BF85EE5}" type="sibTrans" cxnId="{D81FF019-4D14-4A7A-B070-DBCB69FE78D1}">
      <dgm:prSet/>
      <dgm:spPr/>
      <dgm:t>
        <a:bodyPr/>
        <a:lstStyle/>
        <a:p>
          <a:endParaRPr lang="en-US"/>
        </a:p>
      </dgm:t>
    </dgm:pt>
    <dgm:pt modelId="{80A07CD7-CA70-4A4E-8142-CA22B51C50BA}">
      <dgm:prSet custT="1"/>
      <dgm:spPr/>
      <dgm:t>
        <a:bodyPr/>
        <a:lstStyle/>
        <a:p>
          <a:r>
            <a:rPr lang="en-US" sz="1700" b="1" kern="1200" dirty="0">
              <a:solidFill>
                <a:srgbClr val="FFC000"/>
              </a:solidFill>
              <a:latin typeface="Corbel" panose="020B0503020204020204"/>
              <a:ea typeface="+mn-ea"/>
              <a:cs typeface="+mn-cs"/>
            </a:rPr>
            <a:t>Entity Relationship Model (ERM)</a:t>
          </a:r>
        </a:p>
      </dgm:t>
    </dgm:pt>
    <dgm:pt modelId="{A5B6E7B9-F0A9-4050-A636-3A181F2A50DD}" type="parTrans" cxnId="{E6D3C204-BC8F-4655-B9F4-4CB72FB97666}">
      <dgm:prSet/>
      <dgm:spPr/>
      <dgm:t>
        <a:bodyPr/>
        <a:lstStyle/>
        <a:p>
          <a:endParaRPr lang="en-US"/>
        </a:p>
      </dgm:t>
    </dgm:pt>
    <dgm:pt modelId="{27833A42-E2A4-4E05-BEC2-78B4088B6666}" type="sibTrans" cxnId="{E6D3C204-BC8F-4655-B9F4-4CB72FB97666}">
      <dgm:prSet/>
      <dgm:spPr/>
      <dgm:t>
        <a:bodyPr/>
        <a:lstStyle/>
        <a:p>
          <a:endParaRPr lang="en-US"/>
        </a:p>
      </dgm:t>
    </dgm:pt>
    <dgm:pt modelId="{11A59D82-F562-4E94-BFB6-E813BC509AB3}">
      <dgm:prSet custT="1"/>
      <dgm:spPr/>
      <dgm:t>
        <a:bodyPr/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C000"/>
              </a:solidFill>
              <a:latin typeface="Corbel" panose="020B0503020204020204"/>
              <a:ea typeface="+mn-ea"/>
              <a:cs typeface="+mn-cs"/>
            </a:rPr>
            <a:t>Table Creation</a:t>
          </a:r>
        </a:p>
      </dgm:t>
    </dgm:pt>
    <dgm:pt modelId="{42F22A8E-31E6-4188-A313-4127CE9BDAE5}" type="parTrans" cxnId="{AC0F3362-AD11-483E-B850-07FD0BF74DD7}">
      <dgm:prSet/>
      <dgm:spPr/>
      <dgm:t>
        <a:bodyPr/>
        <a:lstStyle/>
        <a:p>
          <a:endParaRPr lang="en-US"/>
        </a:p>
      </dgm:t>
    </dgm:pt>
    <dgm:pt modelId="{853C04C9-1967-4040-B0BC-A308C9CB56C0}" type="sibTrans" cxnId="{AC0F3362-AD11-483E-B850-07FD0BF74DD7}">
      <dgm:prSet/>
      <dgm:spPr/>
      <dgm:t>
        <a:bodyPr/>
        <a:lstStyle/>
        <a:p>
          <a:endParaRPr lang="en-US"/>
        </a:p>
      </dgm:t>
    </dgm:pt>
    <dgm:pt modelId="{6119DAF3-2221-4CF7-A6A1-B41F4D139BD7}">
      <dgm:prSet custT="1"/>
      <dgm:spPr/>
      <dgm:t>
        <a:bodyPr/>
        <a:lstStyle/>
        <a:p>
          <a:r>
            <a:rPr lang="en-US" sz="1600" dirty="0"/>
            <a:t>CREATE TABLE statement</a:t>
          </a:r>
        </a:p>
      </dgm:t>
    </dgm:pt>
    <dgm:pt modelId="{D7C4D0AE-BAC1-49AA-8BF1-7AE14FC260B9}" type="parTrans" cxnId="{7419B5D0-CA08-44C1-BB68-FB16A41E6DB9}">
      <dgm:prSet/>
      <dgm:spPr/>
      <dgm:t>
        <a:bodyPr/>
        <a:lstStyle/>
        <a:p>
          <a:endParaRPr lang="en-US"/>
        </a:p>
      </dgm:t>
    </dgm:pt>
    <dgm:pt modelId="{E4982BC1-2FB1-4922-8330-D4AAD8994563}" type="sibTrans" cxnId="{7419B5D0-CA08-44C1-BB68-FB16A41E6DB9}">
      <dgm:prSet/>
      <dgm:spPr/>
      <dgm:t>
        <a:bodyPr/>
        <a:lstStyle/>
        <a:p>
          <a:endParaRPr lang="en-US"/>
        </a:p>
      </dgm:t>
    </dgm:pt>
    <dgm:pt modelId="{6A181114-E86A-4DEB-AFF5-3686B64DBD93}">
      <dgm:prSet custT="1"/>
      <dgm:spPr/>
      <dgm:t>
        <a:bodyPr/>
        <a:lstStyle/>
        <a:p>
          <a:r>
            <a:rPr lang="en-US" sz="1600" dirty="0"/>
            <a:t>INSERT INTO statement </a:t>
          </a:r>
        </a:p>
      </dgm:t>
    </dgm:pt>
    <dgm:pt modelId="{3F7F1535-E380-4016-8280-2E5BE84768FB}" type="parTrans" cxnId="{F9D76866-4F2D-41EE-AC1E-4D2AD58DBB34}">
      <dgm:prSet/>
      <dgm:spPr/>
      <dgm:t>
        <a:bodyPr/>
        <a:lstStyle/>
        <a:p>
          <a:endParaRPr lang="en-US"/>
        </a:p>
      </dgm:t>
    </dgm:pt>
    <dgm:pt modelId="{EA69D17F-099A-45C7-9312-62FEC2796C22}" type="sibTrans" cxnId="{F9D76866-4F2D-41EE-AC1E-4D2AD58DBB34}">
      <dgm:prSet/>
      <dgm:spPr/>
      <dgm:t>
        <a:bodyPr/>
        <a:lstStyle/>
        <a:p>
          <a:endParaRPr lang="en-US"/>
        </a:p>
      </dgm:t>
    </dgm:pt>
    <dgm:pt modelId="{D1CBD286-E8C6-4A3A-B448-A431A937F927}">
      <dgm:prSet custT="1"/>
      <dgm:spPr/>
      <dgm:t>
        <a:bodyPr/>
        <a:lstStyle/>
        <a:p>
          <a:r>
            <a:rPr lang="en-US" sz="1600" dirty="0"/>
            <a:t>Query Result</a:t>
          </a:r>
        </a:p>
      </dgm:t>
    </dgm:pt>
    <dgm:pt modelId="{909C6710-D087-4FB6-A55C-1A3397146B03}" type="parTrans" cxnId="{18D67371-2359-4893-80C2-3CAFF60B281E}">
      <dgm:prSet/>
      <dgm:spPr/>
      <dgm:t>
        <a:bodyPr/>
        <a:lstStyle/>
        <a:p>
          <a:endParaRPr lang="en-US"/>
        </a:p>
      </dgm:t>
    </dgm:pt>
    <dgm:pt modelId="{1CD34BB3-A298-431B-93E5-72BE3D6AF451}" type="sibTrans" cxnId="{18D67371-2359-4893-80C2-3CAFF60B281E}">
      <dgm:prSet/>
      <dgm:spPr/>
      <dgm:t>
        <a:bodyPr/>
        <a:lstStyle/>
        <a:p>
          <a:endParaRPr lang="en-US"/>
        </a:p>
      </dgm:t>
    </dgm:pt>
    <dgm:pt modelId="{165C49E9-F893-4246-AFD5-4A3CD4F0A54A}">
      <dgm:prSet custT="1"/>
      <dgm:spPr/>
      <dgm:t>
        <a:bodyPr/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C000"/>
              </a:solidFill>
              <a:latin typeface="Corbel" panose="020B0503020204020204"/>
              <a:ea typeface="+mn-ea"/>
              <a:cs typeface="+mn-cs"/>
            </a:rPr>
            <a:t>Test Cases</a:t>
          </a:r>
        </a:p>
      </dgm:t>
    </dgm:pt>
    <dgm:pt modelId="{98726DBA-ABBD-457D-A98C-EC2284F990BC}" type="parTrans" cxnId="{C513F88C-05EA-4ABC-95CC-77E36147FDD8}">
      <dgm:prSet/>
      <dgm:spPr/>
      <dgm:t>
        <a:bodyPr/>
        <a:lstStyle/>
        <a:p>
          <a:endParaRPr lang="en-US"/>
        </a:p>
      </dgm:t>
    </dgm:pt>
    <dgm:pt modelId="{4F3CF737-029C-440A-A2E5-62DD4D4D4F72}" type="sibTrans" cxnId="{C513F88C-05EA-4ABC-95CC-77E36147FDD8}">
      <dgm:prSet/>
      <dgm:spPr/>
      <dgm:t>
        <a:bodyPr/>
        <a:lstStyle/>
        <a:p>
          <a:endParaRPr lang="en-US"/>
        </a:p>
      </dgm:t>
    </dgm:pt>
    <dgm:pt modelId="{2E34789A-7895-4C43-BFCE-2A9A36AF53C8}">
      <dgm:prSet custT="1"/>
      <dgm:spPr/>
      <dgm:t>
        <a:bodyPr/>
        <a:lstStyle/>
        <a:p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rbel" panose="020B0503020204020204"/>
              <a:ea typeface="+mn-ea"/>
              <a:cs typeface="+mn-cs"/>
            </a:rPr>
            <a:t>Integrity Check</a:t>
          </a:r>
        </a:p>
      </dgm:t>
    </dgm:pt>
    <dgm:pt modelId="{FAC13CB5-D17A-4B53-9B9C-B5C3D27087C7}" type="parTrans" cxnId="{B522E1E2-E041-442F-8AB2-DF5B9D548ECC}">
      <dgm:prSet/>
      <dgm:spPr/>
      <dgm:t>
        <a:bodyPr/>
        <a:lstStyle/>
        <a:p>
          <a:endParaRPr lang="en-US"/>
        </a:p>
      </dgm:t>
    </dgm:pt>
    <dgm:pt modelId="{0A738E58-9978-4A4A-805B-1EF81EE46736}" type="sibTrans" cxnId="{B522E1E2-E041-442F-8AB2-DF5B9D548ECC}">
      <dgm:prSet/>
      <dgm:spPr/>
      <dgm:t>
        <a:bodyPr/>
        <a:lstStyle/>
        <a:p>
          <a:endParaRPr lang="en-US"/>
        </a:p>
      </dgm:t>
    </dgm:pt>
    <dgm:pt modelId="{A83BFF53-570E-432F-9490-7833AFA19551}">
      <dgm:prSet custT="1"/>
      <dgm:spPr/>
      <dgm:t>
        <a:bodyPr/>
        <a:lstStyle/>
        <a:p>
          <a:r>
            <a:rPr lang="en-US" sz="1600" kern="1200" dirty="0"/>
            <a:t>JOIN statements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orbel" panose="020B0503020204020204"/>
            <a:ea typeface="+mn-ea"/>
            <a:cs typeface="+mn-cs"/>
          </a:endParaRPr>
        </a:p>
      </dgm:t>
    </dgm:pt>
    <dgm:pt modelId="{FFC9C11E-3C35-46F1-A199-3E19E850A28A}" type="parTrans" cxnId="{8B446FE6-7620-44E4-B40A-80DD33437EEA}">
      <dgm:prSet/>
      <dgm:spPr/>
      <dgm:t>
        <a:bodyPr/>
        <a:lstStyle/>
        <a:p>
          <a:endParaRPr lang="en-US"/>
        </a:p>
      </dgm:t>
    </dgm:pt>
    <dgm:pt modelId="{E9CBE836-6E60-42FC-AE30-3B8E81AB1AB1}" type="sibTrans" cxnId="{8B446FE6-7620-44E4-B40A-80DD33437EEA}">
      <dgm:prSet/>
      <dgm:spPr/>
      <dgm:t>
        <a:bodyPr/>
        <a:lstStyle/>
        <a:p>
          <a:endParaRPr lang="en-US"/>
        </a:p>
      </dgm:t>
    </dgm:pt>
    <dgm:pt modelId="{3F309067-82E8-4EAB-98A1-FA342EC20AAA}">
      <dgm:prSet custT="1"/>
      <dgm:spPr/>
      <dgm:t>
        <a:bodyPr/>
        <a:lstStyle/>
        <a:p>
          <a:r>
            <a:rPr lang="en-US" sz="1700" b="1" dirty="0">
              <a:solidFill>
                <a:srgbClr val="FFC000"/>
              </a:solidFill>
              <a:latin typeface="Corbel" panose="020B0503020204020204"/>
              <a:ea typeface="+mn-ea"/>
              <a:cs typeface="+mn-cs"/>
            </a:rPr>
            <a:t>Setting up MySQL Workbench</a:t>
          </a:r>
        </a:p>
      </dgm:t>
    </dgm:pt>
    <dgm:pt modelId="{C1C3BD75-51A7-423D-8C57-5ED4B0B2F518}" type="parTrans" cxnId="{460F2390-3FE0-47FD-B27D-0F82D3FCBD49}">
      <dgm:prSet/>
      <dgm:spPr/>
      <dgm:t>
        <a:bodyPr/>
        <a:lstStyle/>
        <a:p>
          <a:endParaRPr lang="en-US"/>
        </a:p>
      </dgm:t>
    </dgm:pt>
    <dgm:pt modelId="{10ED9708-174E-4DEB-B8FB-3D6DFE31437D}" type="sibTrans" cxnId="{460F2390-3FE0-47FD-B27D-0F82D3FCBD49}">
      <dgm:prSet/>
      <dgm:spPr/>
      <dgm:t>
        <a:bodyPr/>
        <a:lstStyle/>
        <a:p>
          <a:endParaRPr lang="en-US"/>
        </a:p>
      </dgm:t>
    </dgm:pt>
    <dgm:pt modelId="{5D11D2CB-C01D-4F47-BD2A-90FB454C5EB3}" type="pres">
      <dgm:prSet presAssocID="{E94E12BA-E506-42CF-9858-3E1ACA85EED8}" presName="linear" presStyleCnt="0">
        <dgm:presLayoutVars>
          <dgm:dir/>
          <dgm:animLvl val="lvl"/>
          <dgm:resizeHandles val="exact"/>
        </dgm:presLayoutVars>
      </dgm:prSet>
      <dgm:spPr/>
    </dgm:pt>
    <dgm:pt modelId="{B7E9D0B6-475A-439C-84E2-336C3EC72CF9}" type="pres">
      <dgm:prSet presAssocID="{EE6AE476-CFE4-4F87-93F9-9184191EF770}" presName="parentLin" presStyleCnt="0"/>
      <dgm:spPr/>
    </dgm:pt>
    <dgm:pt modelId="{A544C71E-6B9D-4334-B5D4-2A6A3BEB7E33}" type="pres">
      <dgm:prSet presAssocID="{EE6AE476-CFE4-4F87-93F9-9184191EF770}" presName="parentLeftMargin" presStyleLbl="node1" presStyleIdx="0" presStyleCnt="5"/>
      <dgm:spPr/>
    </dgm:pt>
    <dgm:pt modelId="{FF2FA2F1-2BDB-49A9-AF31-FEF6C1601A05}" type="pres">
      <dgm:prSet presAssocID="{EE6AE476-CFE4-4F87-93F9-9184191EF77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FF923B4-FA90-4302-846B-C1EC5289B480}" type="pres">
      <dgm:prSet presAssocID="{EE6AE476-CFE4-4F87-93F9-9184191EF770}" presName="negativeSpace" presStyleCnt="0"/>
      <dgm:spPr/>
    </dgm:pt>
    <dgm:pt modelId="{A922B3BA-1108-4FE5-958F-0B38EACC8CE1}" type="pres">
      <dgm:prSet presAssocID="{EE6AE476-CFE4-4F87-93F9-9184191EF770}" presName="childText" presStyleLbl="conFgAcc1" presStyleIdx="0" presStyleCnt="5">
        <dgm:presLayoutVars>
          <dgm:bulletEnabled val="1"/>
        </dgm:presLayoutVars>
      </dgm:prSet>
      <dgm:spPr/>
    </dgm:pt>
    <dgm:pt modelId="{BA373D6E-3E34-4EC3-81D1-8E526DEB693A}" type="pres">
      <dgm:prSet presAssocID="{DC63C97D-0B64-48EB-BE0E-7F9D5BF85EE5}" presName="spaceBetweenRectangles" presStyleCnt="0"/>
      <dgm:spPr/>
    </dgm:pt>
    <dgm:pt modelId="{399BEE2F-4F4E-414B-A091-2ED18AF46C0C}" type="pres">
      <dgm:prSet presAssocID="{3F309067-82E8-4EAB-98A1-FA342EC20AAA}" presName="parentLin" presStyleCnt="0"/>
      <dgm:spPr/>
    </dgm:pt>
    <dgm:pt modelId="{BB5615E1-5490-43AC-8653-506C889ACEAD}" type="pres">
      <dgm:prSet presAssocID="{3F309067-82E8-4EAB-98A1-FA342EC20AAA}" presName="parentLeftMargin" presStyleLbl="node1" presStyleIdx="0" presStyleCnt="5"/>
      <dgm:spPr/>
    </dgm:pt>
    <dgm:pt modelId="{56FB8989-CE37-4DB1-86C9-B43BC692BCCD}" type="pres">
      <dgm:prSet presAssocID="{3F309067-82E8-4EAB-98A1-FA342EC20AA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1BDFECD-E22C-4215-AED5-BE61D0851416}" type="pres">
      <dgm:prSet presAssocID="{3F309067-82E8-4EAB-98A1-FA342EC20AAA}" presName="negativeSpace" presStyleCnt="0"/>
      <dgm:spPr/>
    </dgm:pt>
    <dgm:pt modelId="{D6AE11BB-793A-4609-B4D9-4F92C8920781}" type="pres">
      <dgm:prSet presAssocID="{3F309067-82E8-4EAB-98A1-FA342EC20AAA}" presName="childText" presStyleLbl="conFgAcc1" presStyleIdx="1" presStyleCnt="5">
        <dgm:presLayoutVars>
          <dgm:bulletEnabled val="1"/>
        </dgm:presLayoutVars>
      </dgm:prSet>
      <dgm:spPr/>
    </dgm:pt>
    <dgm:pt modelId="{7E18803B-A99F-4B80-A66E-A463DD16E323}" type="pres">
      <dgm:prSet presAssocID="{10ED9708-174E-4DEB-B8FB-3D6DFE31437D}" presName="spaceBetweenRectangles" presStyleCnt="0"/>
      <dgm:spPr/>
    </dgm:pt>
    <dgm:pt modelId="{D4885372-6024-4EEC-9770-61ECB0F0D1FA}" type="pres">
      <dgm:prSet presAssocID="{80A07CD7-CA70-4A4E-8142-CA22B51C50BA}" presName="parentLin" presStyleCnt="0"/>
      <dgm:spPr/>
    </dgm:pt>
    <dgm:pt modelId="{69687897-16F6-49AA-B49E-55F02C52A9E6}" type="pres">
      <dgm:prSet presAssocID="{80A07CD7-CA70-4A4E-8142-CA22B51C50BA}" presName="parentLeftMargin" presStyleLbl="node1" presStyleIdx="1" presStyleCnt="5"/>
      <dgm:spPr/>
    </dgm:pt>
    <dgm:pt modelId="{748397D9-8111-41D8-92C9-EF8AE878EC5E}" type="pres">
      <dgm:prSet presAssocID="{80A07CD7-CA70-4A4E-8142-CA22B51C50B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2B41027-EE06-48AA-855B-003A75C4892C}" type="pres">
      <dgm:prSet presAssocID="{80A07CD7-CA70-4A4E-8142-CA22B51C50BA}" presName="negativeSpace" presStyleCnt="0"/>
      <dgm:spPr/>
    </dgm:pt>
    <dgm:pt modelId="{70BC42CA-CA34-4E97-8CA8-AEAD00C4D823}" type="pres">
      <dgm:prSet presAssocID="{80A07CD7-CA70-4A4E-8142-CA22B51C50BA}" presName="childText" presStyleLbl="conFgAcc1" presStyleIdx="2" presStyleCnt="5">
        <dgm:presLayoutVars>
          <dgm:bulletEnabled val="1"/>
        </dgm:presLayoutVars>
      </dgm:prSet>
      <dgm:spPr/>
    </dgm:pt>
    <dgm:pt modelId="{0F140C9E-4C49-4871-987E-A79C0D28FF50}" type="pres">
      <dgm:prSet presAssocID="{27833A42-E2A4-4E05-BEC2-78B4088B6666}" presName="spaceBetweenRectangles" presStyleCnt="0"/>
      <dgm:spPr/>
    </dgm:pt>
    <dgm:pt modelId="{D162AC7B-6C1F-441F-9CE0-05F05FFAC6A7}" type="pres">
      <dgm:prSet presAssocID="{11A59D82-F562-4E94-BFB6-E813BC509AB3}" presName="parentLin" presStyleCnt="0"/>
      <dgm:spPr/>
    </dgm:pt>
    <dgm:pt modelId="{EE1C05DF-2F43-4FE8-9A54-03A826825BAB}" type="pres">
      <dgm:prSet presAssocID="{11A59D82-F562-4E94-BFB6-E813BC509AB3}" presName="parentLeftMargin" presStyleLbl="node1" presStyleIdx="2" presStyleCnt="5"/>
      <dgm:spPr/>
    </dgm:pt>
    <dgm:pt modelId="{7ED79BD3-A9A7-4B54-A901-D9A81CC8EF3A}" type="pres">
      <dgm:prSet presAssocID="{11A59D82-F562-4E94-BFB6-E813BC509AB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B2091B5-8251-4A65-AFA8-49C4D1F51989}" type="pres">
      <dgm:prSet presAssocID="{11A59D82-F562-4E94-BFB6-E813BC509AB3}" presName="negativeSpace" presStyleCnt="0"/>
      <dgm:spPr/>
    </dgm:pt>
    <dgm:pt modelId="{DAF2DFA9-2534-4BB1-BC49-95016C77F71E}" type="pres">
      <dgm:prSet presAssocID="{11A59D82-F562-4E94-BFB6-E813BC509AB3}" presName="childText" presStyleLbl="conFgAcc1" presStyleIdx="3" presStyleCnt="5">
        <dgm:presLayoutVars>
          <dgm:bulletEnabled val="1"/>
        </dgm:presLayoutVars>
      </dgm:prSet>
      <dgm:spPr/>
    </dgm:pt>
    <dgm:pt modelId="{2E1A90EB-8109-4281-8271-21E05E2CF3A6}" type="pres">
      <dgm:prSet presAssocID="{853C04C9-1967-4040-B0BC-A308C9CB56C0}" presName="spaceBetweenRectangles" presStyleCnt="0"/>
      <dgm:spPr/>
    </dgm:pt>
    <dgm:pt modelId="{94A11FEA-76E8-4219-AA1B-4FF0E963AF9C}" type="pres">
      <dgm:prSet presAssocID="{165C49E9-F893-4246-AFD5-4A3CD4F0A54A}" presName="parentLin" presStyleCnt="0"/>
      <dgm:spPr/>
    </dgm:pt>
    <dgm:pt modelId="{CB62A9D0-74D9-4AFC-9D53-A2F1EA38D1DD}" type="pres">
      <dgm:prSet presAssocID="{165C49E9-F893-4246-AFD5-4A3CD4F0A54A}" presName="parentLeftMargin" presStyleLbl="node1" presStyleIdx="3" presStyleCnt="5"/>
      <dgm:spPr/>
    </dgm:pt>
    <dgm:pt modelId="{FC219CE1-4E5F-40BA-9F61-76A6F6C8AA4C}" type="pres">
      <dgm:prSet presAssocID="{165C49E9-F893-4246-AFD5-4A3CD4F0A54A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D0EF3CB-441F-4F87-AC6B-3AD9D50ECA72}" type="pres">
      <dgm:prSet presAssocID="{165C49E9-F893-4246-AFD5-4A3CD4F0A54A}" presName="negativeSpace" presStyleCnt="0"/>
      <dgm:spPr/>
    </dgm:pt>
    <dgm:pt modelId="{11D0AC58-644C-45D8-9859-8B21A5D01C0A}" type="pres">
      <dgm:prSet presAssocID="{165C49E9-F893-4246-AFD5-4A3CD4F0A54A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D018101-2D0B-4929-AE1C-8B97B41EE56B}" type="presOf" srcId="{165C49E9-F893-4246-AFD5-4A3CD4F0A54A}" destId="{FC219CE1-4E5F-40BA-9F61-76A6F6C8AA4C}" srcOrd="1" destOrd="0" presId="urn:microsoft.com/office/officeart/2005/8/layout/list1"/>
    <dgm:cxn modelId="{E6D3C204-BC8F-4655-B9F4-4CB72FB97666}" srcId="{E94E12BA-E506-42CF-9858-3E1ACA85EED8}" destId="{80A07CD7-CA70-4A4E-8142-CA22B51C50BA}" srcOrd="2" destOrd="0" parTransId="{A5B6E7B9-F0A9-4050-A636-3A181F2A50DD}" sibTransId="{27833A42-E2A4-4E05-BEC2-78B4088B6666}"/>
    <dgm:cxn modelId="{7756FD17-6EDA-467F-AC36-2D896DBF87A4}" type="presOf" srcId="{D1CBD286-E8C6-4A3A-B448-A431A937F927}" destId="{DAF2DFA9-2534-4BB1-BC49-95016C77F71E}" srcOrd="0" destOrd="2" presId="urn:microsoft.com/office/officeart/2005/8/layout/list1"/>
    <dgm:cxn modelId="{D81FF019-4D14-4A7A-B070-DBCB69FE78D1}" srcId="{E94E12BA-E506-42CF-9858-3E1ACA85EED8}" destId="{EE6AE476-CFE4-4F87-93F9-9184191EF770}" srcOrd="0" destOrd="0" parTransId="{8AC54F28-8C85-426B-811F-A68A778FE87D}" sibTransId="{DC63C97D-0B64-48EB-BE0E-7F9D5BF85EE5}"/>
    <dgm:cxn modelId="{B54BC32B-C2AC-4464-921D-F5EE2063366B}" type="presOf" srcId="{2E34789A-7895-4C43-BFCE-2A9A36AF53C8}" destId="{11D0AC58-644C-45D8-9859-8B21A5D01C0A}" srcOrd="0" destOrd="1" presId="urn:microsoft.com/office/officeart/2005/8/layout/list1"/>
    <dgm:cxn modelId="{B9419834-195F-4AC9-9931-DF6FF4756AAC}" type="presOf" srcId="{E94E12BA-E506-42CF-9858-3E1ACA85EED8}" destId="{5D11D2CB-C01D-4F47-BD2A-90FB454C5EB3}" srcOrd="0" destOrd="0" presId="urn:microsoft.com/office/officeart/2005/8/layout/list1"/>
    <dgm:cxn modelId="{CE11D236-7327-4D04-A217-D9DBE0A4C777}" type="presOf" srcId="{6A181114-E86A-4DEB-AFF5-3686B64DBD93}" destId="{DAF2DFA9-2534-4BB1-BC49-95016C77F71E}" srcOrd="0" destOrd="1" presId="urn:microsoft.com/office/officeart/2005/8/layout/list1"/>
    <dgm:cxn modelId="{6748675D-532F-488B-8577-831D33EE7086}" type="presOf" srcId="{A83BFF53-570E-432F-9490-7833AFA19551}" destId="{11D0AC58-644C-45D8-9859-8B21A5D01C0A}" srcOrd="0" destOrd="0" presId="urn:microsoft.com/office/officeart/2005/8/layout/list1"/>
    <dgm:cxn modelId="{AC0F3362-AD11-483E-B850-07FD0BF74DD7}" srcId="{E94E12BA-E506-42CF-9858-3E1ACA85EED8}" destId="{11A59D82-F562-4E94-BFB6-E813BC509AB3}" srcOrd="3" destOrd="0" parTransId="{42F22A8E-31E6-4188-A313-4127CE9BDAE5}" sibTransId="{853C04C9-1967-4040-B0BC-A308C9CB56C0}"/>
    <dgm:cxn modelId="{F9D76866-4F2D-41EE-AC1E-4D2AD58DBB34}" srcId="{11A59D82-F562-4E94-BFB6-E813BC509AB3}" destId="{6A181114-E86A-4DEB-AFF5-3686B64DBD93}" srcOrd="1" destOrd="0" parTransId="{3F7F1535-E380-4016-8280-2E5BE84768FB}" sibTransId="{EA69D17F-099A-45C7-9312-62FEC2796C22}"/>
    <dgm:cxn modelId="{1751BD46-F3F2-4FC4-B023-ABE536825DFA}" type="presOf" srcId="{11A59D82-F562-4E94-BFB6-E813BC509AB3}" destId="{7ED79BD3-A9A7-4B54-A901-D9A81CC8EF3A}" srcOrd="1" destOrd="0" presId="urn:microsoft.com/office/officeart/2005/8/layout/list1"/>
    <dgm:cxn modelId="{0D42CB50-53D9-4BD6-8C20-31DFDB44C6ED}" type="presOf" srcId="{6119DAF3-2221-4CF7-A6A1-B41F4D139BD7}" destId="{DAF2DFA9-2534-4BB1-BC49-95016C77F71E}" srcOrd="0" destOrd="0" presId="urn:microsoft.com/office/officeart/2005/8/layout/list1"/>
    <dgm:cxn modelId="{18D67371-2359-4893-80C2-3CAFF60B281E}" srcId="{11A59D82-F562-4E94-BFB6-E813BC509AB3}" destId="{D1CBD286-E8C6-4A3A-B448-A431A937F927}" srcOrd="2" destOrd="0" parTransId="{909C6710-D087-4FB6-A55C-1A3397146B03}" sibTransId="{1CD34BB3-A298-431B-93E5-72BE3D6AF451}"/>
    <dgm:cxn modelId="{6264BC7D-FD3F-4F43-999E-A1F99345D06F}" type="presOf" srcId="{80A07CD7-CA70-4A4E-8142-CA22B51C50BA}" destId="{748397D9-8111-41D8-92C9-EF8AE878EC5E}" srcOrd="1" destOrd="0" presId="urn:microsoft.com/office/officeart/2005/8/layout/list1"/>
    <dgm:cxn modelId="{C513F88C-05EA-4ABC-95CC-77E36147FDD8}" srcId="{E94E12BA-E506-42CF-9858-3E1ACA85EED8}" destId="{165C49E9-F893-4246-AFD5-4A3CD4F0A54A}" srcOrd="4" destOrd="0" parTransId="{98726DBA-ABBD-457D-A98C-EC2284F990BC}" sibTransId="{4F3CF737-029C-440A-A2E5-62DD4D4D4F72}"/>
    <dgm:cxn modelId="{460F2390-3FE0-47FD-B27D-0F82D3FCBD49}" srcId="{E94E12BA-E506-42CF-9858-3E1ACA85EED8}" destId="{3F309067-82E8-4EAB-98A1-FA342EC20AAA}" srcOrd="1" destOrd="0" parTransId="{C1C3BD75-51A7-423D-8C57-5ED4B0B2F518}" sibTransId="{10ED9708-174E-4DEB-B8FB-3D6DFE31437D}"/>
    <dgm:cxn modelId="{01F01692-755B-4F57-8408-0493F2A39E8F}" type="presOf" srcId="{EE6AE476-CFE4-4F87-93F9-9184191EF770}" destId="{A544C71E-6B9D-4334-B5D4-2A6A3BEB7E33}" srcOrd="0" destOrd="0" presId="urn:microsoft.com/office/officeart/2005/8/layout/list1"/>
    <dgm:cxn modelId="{BE419C98-B29C-4D13-A931-8427D580C1C4}" type="presOf" srcId="{11A59D82-F562-4E94-BFB6-E813BC509AB3}" destId="{EE1C05DF-2F43-4FE8-9A54-03A826825BAB}" srcOrd="0" destOrd="0" presId="urn:microsoft.com/office/officeart/2005/8/layout/list1"/>
    <dgm:cxn modelId="{309C439C-5C49-412D-8BEF-60020CAE57D2}" type="presOf" srcId="{165C49E9-F893-4246-AFD5-4A3CD4F0A54A}" destId="{CB62A9D0-74D9-4AFC-9D53-A2F1EA38D1DD}" srcOrd="0" destOrd="0" presId="urn:microsoft.com/office/officeart/2005/8/layout/list1"/>
    <dgm:cxn modelId="{FDAE869C-3B65-4D27-8858-5EA2208C0FF9}" type="presOf" srcId="{EE6AE476-CFE4-4F87-93F9-9184191EF770}" destId="{FF2FA2F1-2BDB-49A9-AF31-FEF6C1601A05}" srcOrd="1" destOrd="0" presId="urn:microsoft.com/office/officeart/2005/8/layout/list1"/>
    <dgm:cxn modelId="{C6DF87B4-B929-4DAE-A928-DAE6F4832FAC}" type="presOf" srcId="{3F309067-82E8-4EAB-98A1-FA342EC20AAA}" destId="{56FB8989-CE37-4DB1-86C9-B43BC692BCCD}" srcOrd="1" destOrd="0" presId="urn:microsoft.com/office/officeart/2005/8/layout/list1"/>
    <dgm:cxn modelId="{B1784AB5-C943-44C2-8A3E-2CEEB6A33350}" type="presOf" srcId="{3F309067-82E8-4EAB-98A1-FA342EC20AAA}" destId="{BB5615E1-5490-43AC-8653-506C889ACEAD}" srcOrd="0" destOrd="0" presId="urn:microsoft.com/office/officeart/2005/8/layout/list1"/>
    <dgm:cxn modelId="{D8FA65B9-D729-412D-B7AC-594A991FAB12}" type="presOf" srcId="{80A07CD7-CA70-4A4E-8142-CA22B51C50BA}" destId="{69687897-16F6-49AA-B49E-55F02C52A9E6}" srcOrd="0" destOrd="0" presId="urn:microsoft.com/office/officeart/2005/8/layout/list1"/>
    <dgm:cxn modelId="{7419B5D0-CA08-44C1-BB68-FB16A41E6DB9}" srcId="{11A59D82-F562-4E94-BFB6-E813BC509AB3}" destId="{6119DAF3-2221-4CF7-A6A1-B41F4D139BD7}" srcOrd="0" destOrd="0" parTransId="{D7C4D0AE-BAC1-49AA-8BF1-7AE14FC260B9}" sibTransId="{E4982BC1-2FB1-4922-8330-D4AAD8994563}"/>
    <dgm:cxn modelId="{B522E1E2-E041-442F-8AB2-DF5B9D548ECC}" srcId="{165C49E9-F893-4246-AFD5-4A3CD4F0A54A}" destId="{2E34789A-7895-4C43-BFCE-2A9A36AF53C8}" srcOrd="1" destOrd="0" parTransId="{FAC13CB5-D17A-4B53-9B9C-B5C3D27087C7}" sibTransId="{0A738E58-9978-4A4A-805B-1EF81EE46736}"/>
    <dgm:cxn modelId="{8B446FE6-7620-44E4-B40A-80DD33437EEA}" srcId="{165C49E9-F893-4246-AFD5-4A3CD4F0A54A}" destId="{A83BFF53-570E-432F-9490-7833AFA19551}" srcOrd="0" destOrd="0" parTransId="{FFC9C11E-3C35-46F1-A199-3E19E850A28A}" sibTransId="{E9CBE836-6E60-42FC-AE30-3B8E81AB1AB1}"/>
    <dgm:cxn modelId="{84412FAC-AA1A-4289-A378-436EAA67D110}" type="presParOf" srcId="{5D11D2CB-C01D-4F47-BD2A-90FB454C5EB3}" destId="{B7E9D0B6-475A-439C-84E2-336C3EC72CF9}" srcOrd="0" destOrd="0" presId="urn:microsoft.com/office/officeart/2005/8/layout/list1"/>
    <dgm:cxn modelId="{BC76AAE0-652B-4035-98F2-A790593B68D0}" type="presParOf" srcId="{B7E9D0B6-475A-439C-84E2-336C3EC72CF9}" destId="{A544C71E-6B9D-4334-B5D4-2A6A3BEB7E33}" srcOrd="0" destOrd="0" presId="urn:microsoft.com/office/officeart/2005/8/layout/list1"/>
    <dgm:cxn modelId="{BFFACD80-10BB-446D-8C09-7EDF15B38DD5}" type="presParOf" srcId="{B7E9D0B6-475A-439C-84E2-336C3EC72CF9}" destId="{FF2FA2F1-2BDB-49A9-AF31-FEF6C1601A05}" srcOrd="1" destOrd="0" presId="urn:microsoft.com/office/officeart/2005/8/layout/list1"/>
    <dgm:cxn modelId="{9DA66E53-0880-42B8-913E-C2F431427270}" type="presParOf" srcId="{5D11D2CB-C01D-4F47-BD2A-90FB454C5EB3}" destId="{4FF923B4-FA90-4302-846B-C1EC5289B480}" srcOrd="1" destOrd="0" presId="urn:microsoft.com/office/officeart/2005/8/layout/list1"/>
    <dgm:cxn modelId="{29932358-1965-4F5A-B6A7-D984D5D6B684}" type="presParOf" srcId="{5D11D2CB-C01D-4F47-BD2A-90FB454C5EB3}" destId="{A922B3BA-1108-4FE5-958F-0B38EACC8CE1}" srcOrd="2" destOrd="0" presId="urn:microsoft.com/office/officeart/2005/8/layout/list1"/>
    <dgm:cxn modelId="{D466A16B-7648-4ADC-BAA6-987CC03C7A1E}" type="presParOf" srcId="{5D11D2CB-C01D-4F47-BD2A-90FB454C5EB3}" destId="{BA373D6E-3E34-4EC3-81D1-8E526DEB693A}" srcOrd="3" destOrd="0" presId="urn:microsoft.com/office/officeart/2005/8/layout/list1"/>
    <dgm:cxn modelId="{13C15A5C-1243-4F6F-9D08-1A2971B18E93}" type="presParOf" srcId="{5D11D2CB-C01D-4F47-BD2A-90FB454C5EB3}" destId="{399BEE2F-4F4E-414B-A091-2ED18AF46C0C}" srcOrd="4" destOrd="0" presId="urn:microsoft.com/office/officeart/2005/8/layout/list1"/>
    <dgm:cxn modelId="{6F6E44E7-5697-4D4C-A6FA-73443141FC21}" type="presParOf" srcId="{399BEE2F-4F4E-414B-A091-2ED18AF46C0C}" destId="{BB5615E1-5490-43AC-8653-506C889ACEAD}" srcOrd="0" destOrd="0" presId="urn:microsoft.com/office/officeart/2005/8/layout/list1"/>
    <dgm:cxn modelId="{FC8ADD61-93D0-4744-9322-7FDD770B43B4}" type="presParOf" srcId="{399BEE2F-4F4E-414B-A091-2ED18AF46C0C}" destId="{56FB8989-CE37-4DB1-86C9-B43BC692BCCD}" srcOrd="1" destOrd="0" presId="urn:microsoft.com/office/officeart/2005/8/layout/list1"/>
    <dgm:cxn modelId="{8B0B0BDB-5943-46F0-94AA-6F7CC9356CDE}" type="presParOf" srcId="{5D11D2CB-C01D-4F47-BD2A-90FB454C5EB3}" destId="{31BDFECD-E22C-4215-AED5-BE61D0851416}" srcOrd="5" destOrd="0" presId="urn:microsoft.com/office/officeart/2005/8/layout/list1"/>
    <dgm:cxn modelId="{29C868D1-577C-4D33-B0DB-03AA6F3B42E0}" type="presParOf" srcId="{5D11D2CB-C01D-4F47-BD2A-90FB454C5EB3}" destId="{D6AE11BB-793A-4609-B4D9-4F92C8920781}" srcOrd="6" destOrd="0" presId="urn:microsoft.com/office/officeart/2005/8/layout/list1"/>
    <dgm:cxn modelId="{915BB855-5F27-4858-8B63-13BD1BDEA022}" type="presParOf" srcId="{5D11D2CB-C01D-4F47-BD2A-90FB454C5EB3}" destId="{7E18803B-A99F-4B80-A66E-A463DD16E323}" srcOrd="7" destOrd="0" presId="urn:microsoft.com/office/officeart/2005/8/layout/list1"/>
    <dgm:cxn modelId="{72513BBA-2C62-4B4F-B77C-557ADEAF86AF}" type="presParOf" srcId="{5D11D2CB-C01D-4F47-BD2A-90FB454C5EB3}" destId="{D4885372-6024-4EEC-9770-61ECB0F0D1FA}" srcOrd="8" destOrd="0" presId="urn:microsoft.com/office/officeart/2005/8/layout/list1"/>
    <dgm:cxn modelId="{E5AAD39F-68EA-4C6D-85A7-6A4ACFDA4A08}" type="presParOf" srcId="{D4885372-6024-4EEC-9770-61ECB0F0D1FA}" destId="{69687897-16F6-49AA-B49E-55F02C52A9E6}" srcOrd="0" destOrd="0" presId="urn:microsoft.com/office/officeart/2005/8/layout/list1"/>
    <dgm:cxn modelId="{A2B5095E-4200-48DB-8EA3-066BE8CA4F56}" type="presParOf" srcId="{D4885372-6024-4EEC-9770-61ECB0F0D1FA}" destId="{748397D9-8111-41D8-92C9-EF8AE878EC5E}" srcOrd="1" destOrd="0" presId="urn:microsoft.com/office/officeart/2005/8/layout/list1"/>
    <dgm:cxn modelId="{9978E865-4482-4F26-AFC7-4741A8B26047}" type="presParOf" srcId="{5D11D2CB-C01D-4F47-BD2A-90FB454C5EB3}" destId="{C2B41027-EE06-48AA-855B-003A75C4892C}" srcOrd="9" destOrd="0" presId="urn:microsoft.com/office/officeart/2005/8/layout/list1"/>
    <dgm:cxn modelId="{1D2B9AC5-3B60-4048-800E-76E7371A5A70}" type="presParOf" srcId="{5D11D2CB-C01D-4F47-BD2A-90FB454C5EB3}" destId="{70BC42CA-CA34-4E97-8CA8-AEAD00C4D823}" srcOrd="10" destOrd="0" presId="urn:microsoft.com/office/officeart/2005/8/layout/list1"/>
    <dgm:cxn modelId="{F0DBCE34-919D-46B2-95B3-B0C5B20C88D8}" type="presParOf" srcId="{5D11D2CB-C01D-4F47-BD2A-90FB454C5EB3}" destId="{0F140C9E-4C49-4871-987E-A79C0D28FF50}" srcOrd="11" destOrd="0" presId="urn:microsoft.com/office/officeart/2005/8/layout/list1"/>
    <dgm:cxn modelId="{A28B2F0B-9B33-4CCE-93E5-FCB2A7DCE9A9}" type="presParOf" srcId="{5D11D2CB-C01D-4F47-BD2A-90FB454C5EB3}" destId="{D162AC7B-6C1F-441F-9CE0-05F05FFAC6A7}" srcOrd="12" destOrd="0" presId="urn:microsoft.com/office/officeart/2005/8/layout/list1"/>
    <dgm:cxn modelId="{192D8BAD-7606-42D9-A56E-AB58B9F792A0}" type="presParOf" srcId="{D162AC7B-6C1F-441F-9CE0-05F05FFAC6A7}" destId="{EE1C05DF-2F43-4FE8-9A54-03A826825BAB}" srcOrd="0" destOrd="0" presId="urn:microsoft.com/office/officeart/2005/8/layout/list1"/>
    <dgm:cxn modelId="{94F00982-C7A4-4558-B3D4-940C1E771ED5}" type="presParOf" srcId="{D162AC7B-6C1F-441F-9CE0-05F05FFAC6A7}" destId="{7ED79BD3-A9A7-4B54-A901-D9A81CC8EF3A}" srcOrd="1" destOrd="0" presId="urn:microsoft.com/office/officeart/2005/8/layout/list1"/>
    <dgm:cxn modelId="{8B20663F-B013-46A5-8397-058D9D52321B}" type="presParOf" srcId="{5D11D2CB-C01D-4F47-BD2A-90FB454C5EB3}" destId="{0B2091B5-8251-4A65-AFA8-49C4D1F51989}" srcOrd="13" destOrd="0" presId="urn:microsoft.com/office/officeart/2005/8/layout/list1"/>
    <dgm:cxn modelId="{5A16BAF9-1D7A-43B3-A469-49B6F0D46984}" type="presParOf" srcId="{5D11D2CB-C01D-4F47-BD2A-90FB454C5EB3}" destId="{DAF2DFA9-2534-4BB1-BC49-95016C77F71E}" srcOrd="14" destOrd="0" presId="urn:microsoft.com/office/officeart/2005/8/layout/list1"/>
    <dgm:cxn modelId="{151D407D-F2B7-45CE-BC89-83DE48414AA3}" type="presParOf" srcId="{5D11D2CB-C01D-4F47-BD2A-90FB454C5EB3}" destId="{2E1A90EB-8109-4281-8271-21E05E2CF3A6}" srcOrd="15" destOrd="0" presId="urn:microsoft.com/office/officeart/2005/8/layout/list1"/>
    <dgm:cxn modelId="{2955C15C-DF2B-414C-84DD-8906144C8F3C}" type="presParOf" srcId="{5D11D2CB-C01D-4F47-BD2A-90FB454C5EB3}" destId="{94A11FEA-76E8-4219-AA1B-4FF0E963AF9C}" srcOrd="16" destOrd="0" presId="urn:microsoft.com/office/officeart/2005/8/layout/list1"/>
    <dgm:cxn modelId="{96752BDA-14BD-4CB8-BD0C-6339BD626AFA}" type="presParOf" srcId="{94A11FEA-76E8-4219-AA1B-4FF0E963AF9C}" destId="{CB62A9D0-74D9-4AFC-9D53-A2F1EA38D1DD}" srcOrd="0" destOrd="0" presId="urn:microsoft.com/office/officeart/2005/8/layout/list1"/>
    <dgm:cxn modelId="{AD11EC66-571A-4F70-B33D-21EFC45A16F3}" type="presParOf" srcId="{94A11FEA-76E8-4219-AA1B-4FF0E963AF9C}" destId="{FC219CE1-4E5F-40BA-9F61-76A6F6C8AA4C}" srcOrd="1" destOrd="0" presId="urn:microsoft.com/office/officeart/2005/8/layout/list1"/>
    <dgm:cxn modelId="{A2BD5775-9DCB-4D2D-BC51-0A225D1DA71C}" type="presParOf" srcId="{5D11D2CB-C01D-4F47-BD2A-90FB454C5EB3}" destId="{0D0EF3CB-441F-4F87-AC6B-3AD9D50ECA72}" srcOrd="17" destOrd="0" presId="urn:microsoft.com/office/officeart/2005/8/layout/list1"/>
    <dgm:cxn modelId="{01895DD4-D959-4169-A972-A42C707184A6}" type="presParOf" srcId="{5D11D2CB-C01D-4F47-BD2A-90FB454C5EB3}" destId="{11D0AC58-644C-45D8-9859-8B21A5D01C0A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846244-B044-46A1-8DAE-9B373D9D3E7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D6903E-0C3B-47CA-97A8-7C83C65C7E44}">
      <dgm:prSet/>
      <dgm:spPr/>
      <dgm:t>
        <a:bodyPr/>
        <a:lstStyle/>
        <a:p>
          <a:r>
            <a:rPr lang="en-GB" dirty="0"/>
            <a:t>In the development phase of the Airbnb Datamart project, the database schema from the updated conception phase was implemented within the MySQL Workbench. </a:t>
          </a:r>
          <a:endParaRPr lang="en-US" dirty="0"/>
        </a:p>
      </dgm:t>
    </dgm:pt>
    <dgm:pt modelId="{52BF5FEC-7692-40E2-84CC-74C5A72CB70F}" type="parTrans" cxnId="{495D0995-9C35-446F-A7C8-1C7BFDC6F8CF}">
      <dgm:prSet/>
      <dgm:spPr/>
      <dgm:t>
        <a:bodyPr/>
        <a:lstStyle/>
        <a:p>
          <a:endParaRPr lang="en-US"/>
        </a:p>
      </dgm:t>
    </dgm:pt>
    <dgm:pt modelId="{37417FFC-2613-4034-823D-3ACECBE028F5}" type="sibTrans" cxnId="{495D0995-9C35-446F-A7C8-1C7BFDC6F8CF}">
      <dgm:prSet/>
      <dgm:spPr/>
      <dgm:t>
        <a:bodyPr/>
        <a:lstStyle/>
        <a:p>
          <a:endParaRPr lang="en-US"/>
        </a:p>
      </dgm:t>
    </dgm:pt>
    <dgm:pt modelId="{407196D3-FBF0-4163-AFEB-5071851FD763}">
      <dgm:prSet/>
      <dgm:spPr/>
      <dgm:t>
        <a:bodyPr/>
        <a:lstStyle/>
        <a:p>
          <a:r>
            <a:rPr lang="en-GB" dirty="0"/>
            <a:t>This included creating the 22 tables and relationships as per the ERM Diagram and populating each table with at least 20 entries. </a:t>
          </a:r>
          <a:endParaRPr lang="en-US" dirty="0"/>
        </a:p>
      </dgm:t>
    </dgm:pt>
    <dgm:pt modelId="{EA04AD03-CC7D-45DF-82E3-0832EAB9172A}" type="parTrans" cxnId="{924F91A9-A228-4E1C-98A1-543B03009D60}">
      <dgm:prSet/>
      <dgm:spPr/>
      <dgm:t>
        <a:bodyPr/>
        <a:lstStyle/>
        <a:p>
          <a:endParaRPr lang="en-US"/>
        </a:p>
      </dgm:t>
    </dgm:pt>
    <dgm:pt modelId="{FEBE49C8-68F1-485B-9D84-662B86216699}" type="sibTrans" cxnId="{924F91A9-A228-4E1C-98A1-543B03009D60}">
      <dgm:prSet/>
      <dgm:spPr/>
      <dgm:t>
        <a:bodyPr/>
        <a:lstStyle/>
        <a:p>
          <a:endParaRPr lang="en-US"/>
        </a:p>
      </dgm:t>
    </dgm:pt>
    <dgm:pt modelId="{BA0C03ED-0602-461C-A6D1-ABB7FA110983}" type="pres">
      <dgm:prSet presAssocID="{E1846244-B044-46A1-8DAE-9B373D9D3E7F}" presName="linear" presStyleCnt="0">
        <dgm:presLayoutVars>
          <dgm:animLvl val="lvl"/>
          <dgm:resizeHandles val="exact"/>
        </dgm:presLayoutVars>
      </dgm:prSet>
      <dgm:spPr/>
    </dgm:pt>
    <dgm:pt modelId="{EEAD87AC-5E7F-4C65-A95D-01FD685115A3}" type="pres">
      <dgm:prSet presAssocID="{A7D6903E-0C3B-47CA-97A8-7C83C65C7E4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007319-7521-4304-AD09-6B302812D6BC}" type="pres">
      <dgm:prSet presAssocID="{37417FFC-2613-4034-823D-3ACECBE028F5}" presName="spacer" presStyleCnt="0"/>
      <dgm:spPr/>
    </dgm:pt>
    <dgm:pt modelId="{8C85A0AC-0F75-4A6B-A859-43DEB9899C42}" type="pres">
      <dgm:prSet presAssocID="{407196D3-FBF0-4163-AFEB-5071851FD76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FCA5008-FD7D-42C8-8F4A-C7E88D0146B5}" type="presOf" srcId="{E1846244-B044-46A1-8DAE-9B373D9D3E7F}" destId="{BA0C03ED-0602-461C-A6D1-ABB7FA110983}" srcOrd="0" destOrd="0" presId="urn:microsoft.com/office/officeart/2005/8/layout/vList2"/>
    <dgm:cxn modelId="{FEFA2449-2BFE-49E5-ACFF-CA241F6D95D2}" type="presOf" srcId="{407196D3-FBF0-4163-AFEB-5071851FD763}" destId="{8C85A0AC-0F75-4A6B-A859-43DEB9899C42}" srcOrd="0" destOrd="0" presId="urn:microsoft.com/office/officeart/2005/8/layout/vList2"/>
    <dgm:cxn modelId="{495D0995-9C35-446F-A7C8-1C7BFDC6F8CF}" srcId="{E1846244-B044-46A1-8DAE-9B373D9D3E7F}" destId="{A7D6903E-0C3B-47CA-97A8-7C83C65C7E44}" srcOrd="0" destOrd="0" parTransId="{52BF5FEC-7692-40E2-84CC-74C5A72CB70F}" sibTransId="{37417FFC-2613-4034-823D-3ACECBE028F5}"/>
    <dgm:cxn modelId="{924F91A9-A228-4E1C-98A1-543B03009D60}" srcId="{E1846244-B044-46A1-8DAE-9B373D9D3E7F}" destId="{407196D3-FBF0-4163-AFEB-5071851FD763}" srcOrd="1" destOrd="0" parTransId="{EA04AD03-CC7D-45DF-82E3-0832EAB9172A}" sibTransId="{FEBE49C8-68F1-485B-9D84-662B86216699}"/>
    <dgm:cxn modelId="{F16833EE-81C7-4229-94AF-9ABC84D242F3}" type="presOf" srcId="{A7D6903E-0C3B-47CA-97A8-7C83C65C7E44}" destId="{EEAD87AC-5E7F-4C65-A95D-01FD685115A3}" srcOrd="0" destOrd="0" presId="urn:microsoft.com/office/officeart/2005/8/layout/vList2"/>
    <dgm:cxn modelId="{63BEF567-7C98-45A4-8C80-534F6681D4FD}" type="presParOf" srcId="{BA0C03ED-0602-461C-A6D1-ABB7FA110983}" destId="{EEAD87AC-5E7F-4C65-A95D-01FD685115A3}" srcOrd="0" destOrd="0" presId="urn:microsoft.com/office/officeart/2005/8/layout/vList2"/>
    <dgm:cxn modelId="{54CB295A-E19F-4B31-A65E-810F0DDDBC83}" type="presParOf" srcId="{BA0C03ED-0602-461C-A6D1-ABB7FA110983}" destId="{3D007319-7521-4304-AD09-6B302812D6BC}" srcOrd="1" destOrd="0" presId="urn:microsoft.com/office/officeart/2005/8/layout/vList2"/>
    <dgm:cxn modelId="{517999B2-E613-483F-9B36-605573359EBC}" type="presParOf" srcId="{BA0C03ED-0602-461C-A6D1-ABB7FA110983}" destId="{8C85A0AC-0F75-4A6B-A859-43DEB9899C4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2B3BA-1108-4FE5-958F-0B38EACC8CE1}">
      <dsp:nvSpPr>
        <dsp:cNvPr id="0" name=""/>
        <dsp:cNvSpPr/>
      </dsp:nvSpPr>
      <dsp:spPr>
        <a:xfrm>
          <a:off x="0" y="245812"/>
          <a:ext cx="734938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2FA2F1-2BDB-49A9-AF31-FEF6C1601A05}">
      <dsp:nvSpPr>
        <dsp:cNvPr id="0" name=""/>
        <dsp:cNvSpPr/>
      </dsp:nvSpPr>
      <dsp:spPr>
        <a:xfrm>
          <a:off x="367469" y="68692"/>
          <a:ext cx="5144568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452" tIns="0" rIns="19445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C000"/>
              </a:solidFill>
              <a:latin typeface="Corbel" panose="020B0503020204020204"/>
              <a:ea typeface="+mn-ea"/>
              <a:cs typeface="+mn-cs"/>
            </a:rPr>
            <a:t>Introduction</a:t>
          </a:r>
        </a:p>
      </dsp:txBody>
      <dsp:txXfrm>
        <a:off x="384762" y="85985"/>
        <a:ext cx="5109982" cy="319654"/>
      </dsp:txXfrm>
    </dsp:sp>
    <dsp:sp modelId="{D6AE11BB-793A-4609-B4D9-4F92C8920781}">
      <dsp:nvSpPr>
        <dsp:cNvPr id="0" name=""/>
        <dsp:cNvSpPr/>
      </dsp:nvSpPr>
      <dsp:spPr>
        <a:xfrm>
          <a:off x="0" y="790132"/>
          <a:ext cx="734938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B8989-CE37-4DB1-86C9-B43BC692BCCD}">
      <dsp:nvSpPr>
        <dsp:cNvPr id="0" name=""/>
        <dsp:cNvSpPr/>
      </dsp:nvSpPr>
      <dsp:spPr>
        <a:xfrm>
          <a:off x="367469" y="613012"/>
          <a:ext cx="5144568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452" tIns="0" rIns="19445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C000"/>
              </a:solidFill>
              <a:latin typeface="Corbel" panose="020B0503020204020204"/>
              <a:ea typeface="+mn-ea"/>
              <a:cs typeface="+mn-cs"/>
            </a:rPr>
            <a:t>Setting up MySQL Workbench</a:t>
          </a:r>
        </a:p>
      </dsp:txBody>
      <dsp:txXfrm>
        <a:off x="384762" y="630305"/>
        <a:ext cx="5109982" cy="319654"/>
      </dsp:txXfrm>
    </dsp:sp>
    <dsp:sp modelId="{70BC42CA-CA34-4E97-8CA8-AEAD00C4D823}">
      <dsp:nvSpPr>
        <dsp:cNvPr id="0" name=""/>
        <dsp:cNvSpPr/>
      </dsp:nvSpPr>
      <dsp:spPr>
        <a:xfrm>
          <a:off x="0" y="1334451"/>
          <a:ext cx="734938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397D9-8111-41D8-92C9-EF8AE878EC5E}">
      <dsp:nvSpPr>
        <dsp:cNvPr id="0" name=""/>
        <dsp:cNvSpPr/>
      </dsp:nvSpPr>
      <dsp:spPr>
        <a:xfrm>
          <a:off x="367469" y="1157331"/>
          <a:ext cx="5144568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452" tIns="0" rIns="19445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C000"/>
              </a:solidFill>
              <a:latin typeface="Corbel" panose="020B0503020204020204"/>
              <a:ea typeface="+mn-ea"/>
              <a:cs typeface="+mn-cs"/>
            </a:rPr>
            <a:t>Entity Relationship Model (ERM)</a:t>
          </a:r>
        </a:p>
      </dsp:txBody>
      <dsp:txXfrm>
        <a:off x="384762" y="1174624"/>
        <a:ext cx="5109982" cy="319654"/>
      </dsp:txXfrm>
    </dsp:sp>
    <dsp:sp modelId="{DAF2DFA9-2534-4BB1-BC49-95016C77F71E}">
      <dsp:nvSpPr>
        <dsp:cNvPr id="0" name=""/>
        <dsp:cNvSpPr/>
      </dsp:nvSpPr>
      <dsp:spPr>
        <a:xfrm>
          <a:off x="0" y="1878771"/>
          <a:ext cx="7349383" cy="1115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394" tIns="249936" rIns="57039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CREATE TABLE statement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INSERT INTO statement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Query Result</a:t>
          </a:r>
        </a:p>
      </dsp:txBody>
      <dsp:txXfrm>
        <a:off x="0" y="1878771"/>
        <a:ext cx="7349383" cy="1115100"/>
      </dsp:txXfrm>
    </dsp:sp>
    <dsp:sp modelId="{7ED79BD3-A9A7-4B54-A901-D9A81CC8EF3A}">
      <dsp:nvSpPr>
        <dsp:cNvPr id="0" name=""/>
        <dsp:cNvSpPr/>
      </dsp:nvSpPr>
      <dsp:spPr>
        <a:xfrm>
          <a:off x="367469" y="1701651"/>
          <a:ext cx="5144568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452" tIns="0" rIns="19445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C000"/>
              </a:solidFill>
              <a:latin typeface="Corbel" panose="020B0503020204020204"/>
              <a:ea typeface="+mn-ea"/>
              <a:cs typeface="+mn-cs"/>
            </a:rPr>
            <a:t>Table Creation</a:t>
          </a:r>
        </a:p>
      </dsp:txBody>
      <dsp:txXfrm>
        <a:off x="384762" y="1718944"/>
        <a:ext cx="5109982" cy="319654"/>
      </dsp:txXfrm>
    </dsp:sp>
    <dsp:sp modelId="{11D0AC58-644C-45D8-9859-8B21A5D01C0A}">
      <dsp:nvSpPr>
        <dsp:cNvPr id="0" name=""/>
        <dsp:cNvSpPr/>
      </dsp:nvSpPr>
      <dsp:spPr>
        <a:xfrm>
          <a:off x="0" y="3235791"/>
          <a:ext cx="7349383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394" tIns="249936" rIns="57039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JOIN statements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orbel" panose="020B0503020204020204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orbel" panose="020B0503020204020204"/>
              <a:ea typeface="+mn-ea"/>
              <a:cs typeface="+mn-cs"/>
            </a:rPr>
            <a:t>Integrity Check</a:t>
          </a:r>
        </a:p>
      </dsp:txBody>
      <dsp:txXfrm>
        <a:off x="0" y="3235791"/>
        <a:ext cx="7349383" cy="850500"/>
      </dsp:txXfrm>
    </dsp:sp>
    <dsp:sp modelId="{FC219CE1-4E5F-40BA-9F61-76A6F6C8AA4C}">
      <dsp:nvSpPr>
        <dsp:cNvPr id="0" name=""/>
        <dsp:cNvSpPr/>
      </dsp:nvSpPr>
      <dsp:spPr>
        <a:xfrm>
          <a:off x="367469" y="3058671"/>
          <a:ext cx="5144568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452" tIns="0" rIns="19445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C000"/>
              </a:solidFill>
              <a:latin typeface="Corbel" panose="020B0503020204020204"/>
              <a:ea typeface="+mn-ea"/>
              <a:cs typeface="+mn-cs"/>
            </a:rPr>
            <a:t>Test Cases</a:t>
          </a:r>
        </a:p>
      </dsp:txBody>
      <dsp:txXfrm>
        <a:off x="384762" y="3075964"/>
        <a:ext cx="5109982" cy="319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D87AC-5E7F-4C65-A95D-01FD685115A3}">
      <dsp:nvSpPr>
        <dsp:cNvPr id="0" name=""/>
        <dsp:cNvSpPr/>
      </dsp:nvSpPr>
      <dsp:spPr>
        <a:xfrm>
          <a:off x="0" y="111696"/>
          <a:ext cx="4843282" cy="1991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In the development phase of the Airbnb Datamart project, the database schema from the updated conception phase was implemented within the MySQL Workbench. </a:t>
          </a:r>
          <a:endParaRPr lang="en-US" sz="2300" kern="1200" dirty="0"/>
        </a:p>
      </dsp:txBody>
      <dsp:txXfrm>
        <a:off x="97209" y="208905"/>
        <a:ext cx="4648864" cy="1796922"/>
      </dsp:txXfrm>
    </dsp:sp>
    <dsp:sp modelId="{8C85A0AC-0F75-4A6B-A859-43DEB9899C42}">
      <dsp:nvSpPr>
        <dsp:cNvPr id="0" name=""/>
        <dsp:cNvSpPr/>
      </dsp:nvSpPr>
      <dsp:spPr>
        <a:xfrm>
          <a:off x="0" y="2169276"/>
          <a:ext cx="4843282" cy="1991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This included creating the 22 tables and relationships as per the ERM Diagram and populating each table with at least 20 entries. </a:t>
          </a:r>
          <a:endParaRPr lang="en-US" sz="2300" kern="1200" dirty="0"/>
        </a:p>
      </dsp:txBody>
      <dsp:txXfrm>
        <a:off x="97209" y="2266485"/>
        <a:ext cx="4648864" cy="17969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7FD0E50-3492-9C4A-EB2B-97781670BB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9B773-DEAC-33B6-A22E-BFDA824200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D897C-7544-4939-BCAE-C368C284BB4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356BF-1051-DF27-DA89-F201B546B8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4F4C5-D610-7178-1AE2-C35FD7DD07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2828E-4685-4317-B907-0B6D8BF53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11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937B5-0721-47C0-81BA-977A6A3A7E1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BE834-5743-4800-89FE-27E23731D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2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BE834-5743-4800-89FE-27E23731D1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98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BE834-5743-4800-89FE-27E23731D1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76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BE834-5743-4800-89FE-27E23731D1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65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BE834-5743-4800-89FE-27E23731D1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76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dirty="0">
              <a:solidFill>
                <a:schemeClr val="bg1"/>
              </a:solidFill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dirty="0">
              <a:solidFill>
                <a:schemeClr val="bg1"/>
              </a:solidFill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3B974-79E7-420B-9069-F4EBADC7CADC}" type="slidenum">
              <a:rPr lang="en-US" smtClean="0"/>
              <a:t>45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232EE-FB58-171F-862A-13E0B401E3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Anita Skynar   92124577  20230224</a:t>
            </a:r>
          </a:p>
        </p:txBody>
      </p:sp>
    </p:spTree>
    <p:extLst>
      <p:ext uri="{BB962C8B-B14F-4D97-AF65-F5344CB8AC3E}">
        <p14:creationId xmlns:p14="http://schemas.microsoft.com/office/powerpoint/2010/main" val="1634435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3B974-79E7-420B-9069-F4EBADC7CADC}" type="slidenum">
              <a:rPr lang="en-US" smtClean="0"/>
              <a:t>46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232EE-FB58-171F-862A-13E0B401E3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Anita Skynar   92124577  20230224</a:t>
            </a:r>
          </a:p>
        </p:txBody>
      </p:sp>
    </p:spTree>
    <p:extLst>
      <p:ext uri="{BB962C8B-B14F-4D97-AF65-F5344CB8AC3E}">
        <p14:creationId xmlns:p14="http://schemas.microsoft.com/office/powerpoint/2010/main" val="3623186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0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4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47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33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0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0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64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2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0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9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49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1052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16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6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30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5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28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10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/>
              <a:t>DLBDSPBDM01 - Anita Skynar - 92124577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965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  <p:sldLayoutId id="2147483835" r:id="rId1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image" Target="../media/image5.png"/><Relationship Id="rId5" Type="http://schemas.openxmlformats.org/officeDocument/2006/relationships/image" Target="../media/image4.jpg"/><Relationship Id="rId10" Type="http://schemas.microsoft.com/office/2007/relationships/diagramDrawing" Target="../diagrams/drawing1.xml"/><Relationship Id="rId4" Type="http://schemas.openxmlformats.org/officeDocument/2006/relationships/image" Target="../media/image3.jpe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3.jpeg"/><Relationship Id="rId7" Type="http://schemas.openxmlformats.org/officeDocument/2006/relationships/diagramLayout" Target="../diagrams/layou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Data" Target="../diagrams/data2.xml"/><Relationship Id="rId5" Type="http://schemas.openxmlformats.org/officeDocument/2006/relationships/image" Target="../media/image7.png"/><Relationship Id="rId10" Type="http://schemas.microsoft.com/office/2007/relationships/diagramDrawing" Target="../diagrams/drawing2.xml"/><Relationship Id="rId4" Type="http://schemas.openxmlformats.org/officeDocument/2006/relationships/image" Target="../media/image6.png"/><Relationship Id="rId9" Type="http://schemas.openxmlformats.org/officeDocument/2006/relationships/diagramColors" Target="../diagrams/colors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dev.mysql.com/downloads/workbench/" TargetMode="External"/><Relationship Id="rId5" Type="http://schemas.openxmlformats.org/officeDocument/2006/relationships/hyperlink" Target="https://dev.mysql.com/downloads/installer/" TargetMode="External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facebook.com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4.jpg"/><Relationship Id="rId7" Type="http://schemas.openxmlformats.org/officeDocument/2006/relationships/image" Target="../media/image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0.pn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89.png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D4E11C7-7BD5-4045-AC27-3F529BEC7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1115786"/>
            <a:ext cx="2862069" cy="4626428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br>
              <a:rPr lang="en-US" sz="3500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tx1">
                    <a:lumMod val="95000"/>
                  </a:schemeClr>
                </a:solidFill>
              </a:rPr>
              <a:t>Phase 2 </a:t>
            </a:r>
            <a:br>
              <a:rPr lang="en-US" sz="3600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3500" dirty="0">
                <a:solidFill>
                  <a:schemeClr val="tx1">
                    <a:lumMod val="95000"/>
                  </a:schemeClr>
                </a:solidFill>
              </a:rPr>
              <a:t>Development  Phase</a:t>
            </a:r>
            <a:br>
              <a:rPr lang="en-US" sz="4400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4300" dirty="0">
                <a:solidFill>
                  <a:srgbClr val="FFC000"/>
                </a:solidFill>
              </a:rPr>
              <a:t>Airbnb Database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32907"/>
            <a:ext cx="0" cy="27921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7406" y="1115786"/>
            <a:ext cx="5317651" cy="46264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r>
              <a:rPr lang="en-US" sz="1700" dirty="0">
                <a:solidFill>
                  <a:srgbClr val="FFC000"/>
                </a:solidFill>
                <a:latin typeface="+mn-lt"/>
              </a:rPr>
              <a:t>DLBDSPBDM01 – </a:t>
            </a:r>
            <a:r>
              <a:rPr lang="en-GB" sz="1700" dirty="0">
                <a:solidFill>
                  <a:srgbClr val="FFC000"/>
                </a:solidFill>
                <a:latin typeface="+mn-lt"/>
              </a:rPr>
              <a:t>Build a Data Mart in SQL</a:t>
            </a:r>
            <a:endParaRPr lang="en-US" sz="1700" dirty="0">
              <a:solidFill>
                <a:srgbClr val="FFC000"/>
              </a:solidFill>
              <a:latin typeface="+mn-lt"/>
            </a:endParaRPr>
          </a:p>
          <a:p>
            <a:pPr algn="l" defTabSz="914400"/>
            <a:r>
              <a:rPr lang="en-US" sz="1700" b="0" i="0" u="none" strike="noStrike" dirty="0"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Tutor: </a:t>
            </a:r>
            <a:r>
              <a:rPr lang="en-US" sz="1700" dirty="0" err="1">
                <a:solidFill>
                  <a:schemeClr val="tx1">
                    <a:lumMod val="95000"/>
                  </a:schemeClr>
                </a:solidFill>
                <a:latin typeface="+mn-lt"/>
              </a:rPr>
              <a:t>Musharaf</a:t>
            </a:r>
            <a:r>
              <a:rPr lang="en-US" sz="1700" dirty="0">
                <a:solidFill>
                  <a:schemeClr val="tx1">
                    <a:lumMod val="95000"/>
                  </a:schemeClr>
                </a:solidFill>
                <a:latin typeface="+mn-lt"/>
              </a:rPr>
              <a:t> </a:t>
            </a:r>
            <a:r>
              <a:rPr lang="en-US" sz="1700" dirty="0" err="1">
                <a:solidFill>
                  <a:schemeClr val="tx1">
                    <a:lumMod val="95000"/>
                  </a:schemeClr>
                </a:solidFill>
                <a:latin typeface="+mn-lt"/>
              </a:rPr>
              <a:t>Doger</a:t>
            </a:r>
            <a:endParaRPr lang="en-US" sz="1700" dirty="0">
              <a:solidFill>
                <a:schemeClr val="tx1">
                  <a:lumMod val="95000"/>
                </a:schemeClr>
              </a:solidFill>
              <a:latin typeface="+mn-lt"/>
            </a:endParaRPr>
          </a:p>
          <a:p>
            <a:pPr algn="l" defTabSz="914400"/>
            <a:endParaRPr lang="en-US" sz="1700" dirty="0">
              <a:solidFill>
                <a:schemeClr val="tx1">
                  <a:lumMod val="95000"/>
                </a:schemeClr>
              </a:solidFill>
              <a:latin typeface="+mn-lt"/>
            </a:endParaRPr>
          </a:p>
          <a:p>
            <a:pPr algn="l" defTabSz="914400"/>
            <a:r>
              <a:rPr lang="en-US" sz="1700" b="0" i="0" u="none" strike="noStrike" dirty="0"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Name: Anita Skynar    </a:t>
            </a:r>
          </a:p>
          <a:p>
            <a:pPr algn="l" defTabSz="914400"/>
            <a:r>
              <a:rPr lang="en-US" sz="1700" b="0" i="0" u="none" strike="noStrike" dirty="0">
                <a:solidFill>
                  <a:schemeClr val="tx1">
                    <a:lumMod val="95000"/>
                  </a:schemeClr>
                </a:solidFill>
                <a:effectLst/>
                <a:latin typeface="+mn-lt"/>
              </a:rPr>
              <a:t>Matriculation: 92124577</a:t>
            </a:r>
          </a:p>
          <a:p>
            <a:pPr algn="l" defTabSz="914400"/>
            <a:r>
              <a:rPr lang="en-US" sz="1700" dirty="0">
                <a:solidFill>
                  <a:schemeClr val="tx1">
                    <a:lumMod val="95000"/>
                  </a:schemeClr>
                </a:solidFill>
                <a:latin typeface="+mn-lt"/>
              </a:rPr>
              <a:t>Submission Date: 12 September 2024</a:t>
            </a:r>
          </a:p>
        </p:txBody>
      </p:sp>
      <p:pic>
        <p:nvPicPr>
          <p:cNvPr id="22" name="Picture 21" descr="Person watching empty phone">
            <a:extLst>
              <a:ext uri="{FF2B5EF4-FFF2-40B4-BE49-F238E27FC236}">
                <a16:creationId xmlns:a16="http://schemas.microsoft.com/office/drawing/2014/main" id="{676B2D45-BA69-C962-FCB3-02CBA3F13B4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12000"/>
            <a:grayscl/>
          </a:blip>
          <a:srcRect t="2702"/>
          <a:stretch/>
        </p:blipFill>
        <p:spPr>
          <a:xfrm>
            <a:off x="3490722" y="-3182772"/>
            <a:ext cx="9143980" cy="593868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23" name="Picture 22" descr="Illuminated server room panel">
            <a:extLst>
              <a:ext uri="{FF2B5EF4-FFF2-40B4-BE49-F238E27FC236}">
                <a16:creationId xmlns:a16="http://schemas.microsoft.com/office/drawing/2014/main" id="{20D20731-D2F3-618D-4A79-BD23A3157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12000"/>
            <a:grayscl/>
          </a:blip>
          <a:srcRect t="2702"/>
          <a:stretch/>
        </p:blipFill>
        <p:spPr>
          <a:xfrm>
            <a:off x="-2231116" y="-327530"/>
            <a:ext cx="5719530" cy="3714627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24" name="Picture 23" descr="Illuminated server room panel">
            <a:extLst>
              <a:ext uri="{FF2B5EF4-FFF2-40B4-BE49-F238E27FC236}">
                <a16:creationId xmlns:a16="http://schemas.microsoft.com/office/drawing/2014/main" id="{88AC94E2-51B0-B540-94C1-E3A2404BFE8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12000"/>
            <a:grayscl/>
          </a:blip>
          <a:srcRect t="2702"/>
          <a:stretch/>
        </p:blipFill>
        <p:spPr>
          <a:xfrm rot="10800000">
            <a:off x="-5524918" y="3457638"/>
            <a:ext cx="9143980" cy="593868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25" name="Picture 24" descr="Illuminated server room panel">
            <a:extLst>
              <a:ext uri="{FF2B5EF4-FFF2-40B4-BE49-F238E27FC236}">
                <a16:creationId xmlns:a16="http://schemas.microsoft.com/office/drawing/2014/main" id="{8F6738A3-41C1-CEE9-8CF3-B6451D60B3A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12000"/>
            <a:grayscl/>
          </a:blip>
          <a:srcRect t="2702"/>
          <a:stretch/>
        </p:blipFill>
        <p:spPr>
          <a:xfrm flipH="1">
            <a:off x="3490722" y="2755911"/>
            <a:ext cx="12197724" cy="7921979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Illuminated server room panel">
            <a:extLst>
              <a:ext uri="{FF2B5EF4-FFF2-40B4-BE49-F238E27FC236}">
                <a16:creationId xmlns:a16="http://schemas.microsoft.com/office/drawing/2014/main" id="{02531F54-D8AF-9376-AD2C-5206F2E007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12000"/>
            <a:grayscl/>
          </a:blip>
          <a:srcRect t="2702"/>
          <a:stretch/>
        </p:blipFill>
        <p:spPr>
          <a:xfrm flipH="1">
            <a:off x="0" y="4309530"/>
            <a:ext cx="14304916" cy="9290524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8" name="Picture 7" descr="Diagram&#10;&#10;Description automatically generated with low confidence">
            <a:extLst>
              <a:ext uri="{FF2B5EF4-FFF2-40B4-BE49-F238E27FC236}">
                <a16:creationId xmlns:a16="http://schemas.microsoft.com/office/drawing/2014/main" id="{82948C95-BA2A-0FCB-5ECE-F492A0CCF9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12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5" r="51005"/>
          <a:stretch/>
        </p:blipFill>
        <p:spPr bwMode="auto">
          <a:xfrm>
            <a:off x="4753985" y="-2548460"/>
            <a:ext cx="4570788" cy="6857990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000" y="372583"/>
            <a:ext cx="4637967" cy="698684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rgbClr val="FFC000"/>
                </a:solidFill>
              </a:rPr>
            </a:br>
            <a:r>
              <a:rPr lang="en-US" dirty="0">
                <a:solidFill>
                  <a:srgbClr val="FFC000"/>
                </a:solidFill>
              </a:rPr>
              <a:t>Table of Contents</a:t>
            </a:r>
            <a:br>
              <a:rPr lang="en-US" dirty="0">
                <a:solidFill>
                  <a:srgbClr val="FFC000"/>
                </a:solidFill>
              </a:rPr>
            </a:br>
            <a:br>
              <a:rPr lang="en-US" sz="2700" dirty="0">
                <a:solidFill>
                  <a:schemeClr val="accent6"/>
                </a:solidFill>
              </a:rPr>
            </a:b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000" y="1825625"/>
            <a:ext cx="76753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6" name="TextBox 12">
            <a:extLst>
              <a:ext uri="{FF2B5EF4-FFF2-40B4-BE49-F238E27FC236}">
                <a16:creationId xmlns:a16="http://schemas.microsoft.com/office/drawing/2014/main" id="{A604625D-9DDD-5A4F-67D4-1996DF5F2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3660306"/>
              </p:ext>
            </p:extLst>
          </p:nvPr>
        </p:nvGraphicFramePr>
        <p:xfrm>
          <a:off x="628650" y="1229877"/>
          <a:ext cx="7349383" cy="4154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7EDC95DC-2A13-AACE-C418-19C1231D31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685796">
            <a:off x="972977" y="2685877"/>
            <a:ext cx="525586" cy="1875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952E9-7ADA-B028-7DCC-8CAFC5F3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863F3-D0C0-DB42-7B5D-86F3C891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39F82493-6C8F-7693-28FA-61F47C01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3166419" y="-925161"/>
            <a:ext cx="13024787" cy="8459126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82C855-7D41-409A-7E82-BF38A6A0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077" y="207354"/>
            <a:ext cx="2949178" cy="67014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Introduction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A1FCC2-6739-52E6-C81A-AAA2F1CEBADB}"/>
              </a:ext>
            </a:extLst>
          </p:cNvPr>
          <p:cNvSpPr txBox="1"/>
          <p:nvPr/>
        </p:nvSpPr>
        <p:spPr>
          <a:xfrm>
            <a:off x="3526077" y="945980"/>
            <a:ext cx="70083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Overview of the Airbnb Datamart Project: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5C008-236C-43D3-A5F4-583CA7972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00" y="1078923"/>
            <a:ext cx="2110067" cy="3141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388A11D-A6E0-8AD9-EA2E-A00B32D16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900" y="1490667"/>
            <a:ext cx="2110067" cy="4840741"/>
          </a:xfrm>
          <a:prstGeom prst="rect">
            <a:avLst/>
          </a:prstGeom>
        </p:spPr>
      </p:pic>
      <p:graphicFrame>
        <p:nvGraphicFramePr>
          <p:cNvPr id="21" name="Text Placeholder 3">
            <a:extLst>
              <a:ext uri="{FF2B5EF4-FFF2-40B4-BE49-F238E27FC236}">
                <a16:creationId xmlns:a16="http://schemas.microsoft.com/office/drawing/2014/main" id="{71F6E74D-4419-16D3-726F-250819B425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1408064"/>
              </p:ext>
            </p:extLst>
          </p:nvPr>
        </p:nvGraphicFramePr>
        <p:xfrm>
          <a:off x="3556490" y="1774882"/>
          <a:ext cx="4843282" cy="4272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3AB37-450C-ED05-5EEB-BBA78982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8625E-37AD-48FF-F212-A6B42795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55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39F82493-6C8F-7693-28FA-61F47C01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2495153" y="-95599"/>
            <a:ext cx="13024787" cy="8459126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82C855-7D41-409A-7E82-BF38A6A0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64" y="207354"/>
            <a:ext cx="9001036" cy="670142"/>
          </a:xfrm>
        </p:spPr>
        <p:txBody>
          <a:bodyPr>
            <a:normAutofit fontScale="90000"/>
          </a:bodyPr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				 </a:t>
            </a:r>
            <a:r>
              <a:rPr lang="en-US" altLang="en-US" sz="4000" dirty="0">
                <a:solidFill>
                  <a:srgbClr val="FFC000"/>
                </a:solidFill>
              </a:rPr>
              <a:t>Setting Up MySQL Workbench</a:t>
            </a:r>
            <a:endParaRPr lang="en-US" sz="4000" dirty="0">
              <a:solidFill>
                <a:srgbClr val="FFC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5C008-236C-43D3-A5F4-583CA7972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099" y="1394037"/>
            <a:ext cx="3165101" cy="4711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C245A31-9A67-F5AF-4205-C117195B0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91" y="1295345"/>
            <a:ext cx="820340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The database was developed using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MySQL Workbench</a:t>
            </a:r>
            <a:r>
              <a:rPr lang="en-US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00" dirty="0">
              <a:solidFill>
                <a:schemeClr val="accent1">
                  <a:lumMod val="60000"/>
                  <a:lumOff val="40000"/>
                </a:schemeClr>
              </a:solidFill>
              <a:latin typeface="Corbel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After downloading and installing MySQL (click </a:t>
            </a:r>
            <a:r>
              <a:rPr lang="en-US" sz="1500" u="sng" kern="0" dirty="0">
                <a:solidFill>
                  <a:srgbClr val="0000FF"/>
                </a:solidFill>
                <a:effectLst/>
                <a:latin typeface="+mj-lt"/>
                <a:ea typeface="Times New Roman" panose="02020603050405020304" pitchFamily="18" charset="0"/>
                <a:hlinkClick r:id="rId5"/>
              </a:rPr>
              <a:t>here</a:t>
            </a:r>
            <a:r>
              <a:rPr lang="en-US" sz="1500" u="sng" kern="0" dirty="0">
                <a:solidFill>
                  <a:srgbClr val="0000FF"/>
                </a:solidFill>
                <a:effectLst/>
                <a:latin typeface="+mj-lt"/>
                <a:ea typeface="Times New Roman" panose="02020603050405020304" pitchFamily="18" charset="0"/>
              </a:rPr>
              <a:t>)…</a:t>
            </a:r>
            <a:endParaRPr lang="en-US" altLang="en-US" sz="1500" dirty="0">
              <a:solidFill>
                <a:schemeClr val="accent1">
                  <a:lumMod val="60000"/>
                  <a:lumOff val="40000"/>
                </a:schemeClr>
              </a:solidFill>
              <a:latin typeface="Corbel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Open MySQL Workbench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Launch MySQL Workbench from your system or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click </a:t>
            </a:r>
            <a:r>
              <a:rPr lang="en-US" sz="1500" u="sng" kern="0" dirty="0">
                <a:solidFill>
                  <a:srgbClr val="0000FF"/>
                </a:solidFill>
                <a:effectLst/>
                <a:latin typeface="+mj-lt"/>
                <a:ea typeface="Times New Roman" panose="02020603050405020304" pitchFamily="18" charset="0"/>
                <a:hlinkClick r:id="rId6"/>
              </a:rPr>
              <a:t>here</a:t>
            </a:r>
            <a:r>
              <a:rPr lang="en-US" sz="1500" u="sng" kern="0" dirty="0">
                <a:solidFill>
                  <a:srgbClr val="0000FF"/>
                </a:solidFill>
                <a:effectLst/>
                <a:latin typeface="+mj-lt"/>
                <a:ea typeface="Times New Roman" panose="02020603050405020304" pitchFamily="18" charset="0"/>
              </a:rPr>
              <a:t>.</a:t>
            </a:r>
            <a:endParaRPr lang="en-US" sz="1500" u="sng" kern="0" dirty="0">
              <a:solidFill>
                <a:srgbClr val="0000FF"/>
              </a:solidFill>
              <a:latin typeface="+mj-lt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Set up a New Connection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Click </a:t>
            </a:r>
            <a:r>
              <a:rPr lang="en-US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+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under 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MySQL Connections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In the "Setup New Connection" window: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Connection Name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Choose any name ( here: “</a:t>
            </a:r>
            <a:r>
              <a:rPr lang="en-US" alt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a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irbnb_</a:t>
            </a:r>
            <a:r>
              <a:rPr lang="en-US" alt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datamart_sky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").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Hostname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Use localhost (or your server IP if applicable).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Port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Default is 3306.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Username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Use root or another MySQL username.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Password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Click "Store in Vault" and enter the MySQL password.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Connect to Database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Click Test Connection to confirm it works.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Then click OK to save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and open the connection.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Run the SQL Code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Open your SQL file with all table creation, inserts, and test queries.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Copy and paste the SQL code into the SQL editor or use 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File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&gt; 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Open SQL Script to load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the file.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Click the 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Execute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button (lightning icon      ) to run the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Verify Tables and Data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Use SELECT * FROM queries to verify the data in each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40A7FB-7690-FBF4-3ED7-7A5A96774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2355" y="780100"/>
            <a:ext cx="508575" cy="4711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008FF9-7960-3638-C84C-AF6BA501CD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1790" y="2023806"/>
            <a:ext cx="2967410" cy="8401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93F84A-E681-620D-598D-7D44F07A93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2824446" cy="126750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1859A-26F0-0AA4-3192-35CED446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68083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08B09-ACAA-B4B0-0257-2CCA9D07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21C0C7-127A-7A39-0AB7-4F99010DA8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3593" y="5685764"/>
            <a:ext cx="181000" cy="20957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39F892-4AB6-367C-E49A-DED826C63FDD}"/>
              </a:ext>
            </a:extLst>
          </p:cNvPr>
          <p:cNvCxnSpPr>
            <a:cxnSpLocks/>
          </p:cNvCxnSpPr>
          <p:nvPr/>
        </p:nvCxnSpPr>
        <p:spPr>
          <a:xfrm flipV="1">
            <a:off x="6457950" y="2097870"/>
            <a:ext cx="839321" cy="164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8DEBDB4-39F8-76CA-2442-60A0E6462B40}"/>
              </a:ext>
            </a:extLst>
          </p:cNvPr>
          <p:cNvSpPr/>
          <p:nvPr/>
        </p:nvSpPr>
        <p:spPr>
          <a:xfrm>
            <a:off x="7493156" y="2247570"/>
            <a:ext cx="839321" cy="5949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93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Illuminated server room panel">
            <a:extLst>
              <a:ext uri="{FF2B5EF4-FFF2-40B4-BE49-F238E27FC236}">
                <a16:creationId xmlns:a16="http://schemas.microsoft.com/office/drawing/2014/main" id="{5D2FD86A-CA48-82E4-306E-D901C238F6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2000"/>
            <a:grayscl/>
          </a:blip>
          <a:srcRect t="2702"/>
          <a:stretch/>
        </p:blipFill>
        <p:spPr>
          <a:xfrm>
            <a:off x="-2586625" y="-1797888"/>
            <a:ext cx="13419358" cy="8715386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CD48870-4250-2009-27BE-04838AA30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 flipV="1">
            <a:off x="7277621" y="5861051"/>
            <a:ext cx="1238919" cy="295491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</p:txBody>
      </p:sp>
      <p:pic>
        <p:nvPicPr>
          <p:cNvPr id="27" name="Picture 26" descr="A computer screen with many different colored boxes&#10;&#10;Description automatically generated with medium confidence">
            <a:extLst>
              <a:ext uri="{FF2B5EF4-FFF2-40B4-BE49-F238E27FC236}">
                <a16:creationId xmlns:a16="http://schemas.microsoft.com/office/drawing/2014/main" id="{2AC8FE2D-0EE8-095F-C8C3-1191B4BD4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4" y="117564"/>
            <a:ext cx="9006011" cy="65667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82C855-7D41-409A-7E82-BF38A6A0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574" y="117564"/>
            <a:ext cx="6438506" cy="581853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Entity Relationship Model (ERM)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F47B32B-C883-22BB-13EA-BFE314242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76143">
            <a:off x="6967809" y="492548"/>
            <a:ext cx="1117093" cy="4137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D78C1-73AC-27CE-C68C-84F4D3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91051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395AB-92BB-6538-1059-D8602D3C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3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Illuminated server room panel">
            <a:extLst>
              <a:ext uri="{FF2B5EF4-FFF2-40B4-BE49-F238E27FC236}">
                <a16:creationId xmlns:a16="http://schemas.microsoft.com/office/drawing/2014/main" id="{24911946-F1F5-A0BA-034B-7A7C27DF07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5598214" y="1057450"/>
            <a:ext cx="10742704" cy="6976996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842"/>
            <a:ext cx="9551629" cy="79979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dirty="0">
                <a:solidFill>
                  <a:srgbClr val="FFC000"/>
                </a:solidFill>
              </a:rPr>
              <a:t>Database Setup</a:t>
            </a:r>
            <a:endParaRPr lang="en-US" sz="3600" spc="-300" dirty="0">
              <a:solidFill>
                <a:srgbClr val="FFC000"/>
              </a:solidFill>
              <a:effectLst>
                <a:outerShdw blurRad="469900" dist="342900" dir="5400000" sy="-20000" rotWithShape="0">
                  <a:prstClr val="black">
                    <a:alpha val="66000"/>
                  </a:prstClr>
                </a:outerShdw>
              </a:effectLst>
              <a:latin typeface="Corbel (Body)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AB6FAF-761A-3DD2-AC69-3B3D9A2F9025}"/>
              </a:ext>
            </a:extLst>
          </p:cNvPr>
          <p:cNvSpPr txBox="1"/>
          <p:nvPr/>
        </p:nvSpPr>
        <p:spPr>
          <a:xfrm>
            <a:off x="33305" y="1057450"/>
            <a:ext cx="5111185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685800">
              <a:lnSpc>
                <a:spcPct val="90000"/>
              </a:lnSpc>
              <a:spcBef>
                <a:spcPts val="750"/>
              </a:spcBef>
            </a:pPr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Initialization &amp; Table Preparation:</a:t>
            </a:r>
            <a:endParaRPr lang="en-GB" sz="2000" dirty="0">
              <a:gradFill>
                <a:gsLst>
                  <a:gs pos="15000">
                    <a:schemeClr val="tx2"/>
                  </a:gs>
                  <a:gs pos="73000">
                    <a:schemeClr val="tx2">
                      <a:lumMod val="60000"/>
                      <a:lumOff val="40000"/>
                    </a:schemeClr>
                  </a:gs>
                  <a:gs pos="0">
                    <a:schemeClr val="tx1"/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16200000" scaled="1"/>
              </a:gradFill>
            </a:endParaRPr>
          </a:p>
          <a:p>
            <a:pPr marL="0" lvl="1" defTabSz="685800">
              <a:lnSpc>
                <a:spcPct val="90000"/>
              </a:lnSpc>
              <a:spcBef>
                <a:spcPts val="750"/>
              </a:spcBef>
            </a:pPr>
            <a:r>
              <a:rPr lang="en-GB" sz="20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To begin the implementation, it was necessary to prepare the database environment as shown in the code snippet.</a:t>
            </a:r>
          </a:p>
          <a:p>
            <a:endParaRPr lang="en-GB" sz="20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Clean Environment:</a:t>
            </a:r>
          </a:p>
          <a:p>
            <a:r>
              <a:rPr lang="en-GB" sz="20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Existing tables were dropped to avoid conflicts, ensuring a fresh start for the schema creation.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gradFill>
                <a:gsLst>
                  <a:gs pos="15000">
                    <a:schemeClr val="tx2"/>
                  </a:gs>
                  <a:gs pos="73000">
                    <a:schemeClr val="tx2">
                      <a:lumMod val="60000"/>
                      <a:lumOff val="40000"/>
                    </a:schemeClr>
                  </a:gs>
                  <a:gs pos="0">
                    <a:schemeClr val="tx1"/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16200000" scaled="1"/>
              </a:gradFill>
            </a:endParaRPr>
          </a:p>
          <a:p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Foreign Key Checks:</a:t>
            </a:r>
            <a:endParaRPr lang="en-GB" sz="2000" dirty="0">
              <a:gradFill>
                <a:gsLst>
                  <a:gs pos="15000">
                    <a:schemeClr val="tx2"/>
                  </a:gs>
                  <a:gs pos="73000">
                    <a:schemeClr val="tx2">
                      <a:lumMod val="60000"/>
                      <a:lumOff val="40000"/>
                    </a:schemeClr>
                  </a:gs>
                  <a:gs pos="0">
                    <a:schemeClr val="tx1"/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16200000" scaled="1"/>
              </a:gradFill>
            </a:endParaRPr>
          </a:p>
          <a:p>
            <a:r>
              <a:rPr lang="en-GB" sz="20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Temporarily disabled during the drop process and re-enabled afterward to maintain integrity</a:t>
            </a:r>
            <a:r>
              <a:rPr lang="en-GB" sz="24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.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F525461-D07C-0BE4-A2EB-4F216E34F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490" y="1057450"/>
            <a:ext cx="3946627" cy="45344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875B44-EB25-D49C-9636-A2F219718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04D79-B1DE-EC03-24E5-82C826AA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46" y="136525"/>
            <a:ext cx="4813025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Guest Table</a:t>
            </a:r>
          </a:p>
        </p:txBody>
      </p:sp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8622288" y="854648"/>
            <a:ext cx="20324950" cy="500286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51" name="Rectangle 4">
            <a:extLst>
              <a:ext uri="{FF2B5EF4-FFF2-40B4-BE49-F238E27FC236}">
                <a16:creationId xmlns:a16="http://schemas.microsoft.com/office/drawing/2014/main" id="{991F5DF3-A886-4BBA-7E71-334E23072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73" y="1872017"/>
            <a:ext cx="7265059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1. Roles: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Create and manage their own guest profiles.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Can view guest information for their bookings.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Ensure data privacy and system-wide guest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2. Actions: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Register, update, and manage their profiles.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View guest profiles related to their bookings.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Maintain guest data privacy &amp; manage guest information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3. Data (summarized):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Unique identifier for each guest.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Personal Information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Includes name, email (unique), phone number, and password.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Address Information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Street, city, state, country.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Additional Info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Profile picture, GDPR acknowledgement, language settings.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4. Relationships: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 - Booking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A guest can have multiple bookings (one-to-many relationship with bookings).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 -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GuestSocialNetwork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A guest can be linked to multiple social network profiles through the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GuestSocialNetwork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432AF-6F25-69A6-E3B1-A0956E597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221" y="136524"/>
            <a:ext cx="2600961" cy="24747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556DA-7E8A-34F9-C4EF-7BE3AAE7C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92872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CD5EE-F11F-D664-5212-ABD26A2D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46" y="136525"/>
            <a:ext cx="4813025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Guest Table</a:t>
            </a:r>
          </a:p>
        </p:txBody>
      </p:sp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8622288" y="854648"/>
            <a:ext cx="20324950" cy="500286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844A0E3-B77A-F28C-D4E1-145F04FA3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3" y="707130"/>
            <a:ext cx="8457704" cy="31716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DA2859-CFEA-88C5-CBE0-FEE4C18A6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53" y="3932780"/>
            <a:ext cx="8097625" cy="260613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86FCC-7438-7129-3E09-AA7D41FD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304" y="6529595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092EE-61E0-9536-E9E5-80712D73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4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92" y="207812"/>
            <a:ext cx="5516917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Host Table</a:t>
            </a:r>
          </a:p>
        </p:txBody>
      </p:sp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5965562" y="-2486427"/>
            <a:ext cx="15244731" cy="9136615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9" name="Rectangle 3">
            <a:extLst>
              <a:ext uri="{FF2B5EF4-FFF2-40B4-BE49-F238E27FC236}">
                <a16:creationId xmlns:a16="http://schemas.microsoft.com/office/drawing/2014/main" id="{B2E32FCF-7FCC-8A03-E240-0861115AE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4" y="1664975"/>
            <a:ext cx="8485126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1. Roles: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Manage their profiles, guest interactions and ratings.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View host details when booking</a:t>
            </a:r>
            <a:r>
              <a:rPr lang="en-US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 &amp; reviews.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Verify hosts and manage reviews and ensuring referrals between hosts.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2. Actions: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Update profiles, ratings, and refer other hosts.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View host profiles and ratings.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Verify hosts and maintain referral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3. Data (summarized):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PK, </a:t>
            </a:r>
            <a:r>
              <a:rPr lang="en-US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u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niquely identifying each host.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Links hosts to a guest profile (host =  guest).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Rating/Stars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Host’s </a:t>
            </a:r>
            <a:r>
              <a:rPr kumimoji="0" lang="en-GB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review score &amp; ratings from guests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Verified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Host´s verification status.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HostSince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Date when hosting started.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ReferredByHostID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Tracks host referrals.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4. Relationships: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 - Guest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Each host is also a guest, </a:t>
            </a:r>
            <a:r>
              <a:rPr kumimoji="0" lang="en-GB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creating a one-to-one relationship between the two tables.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 - Host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Hosts can refer other hosts, </a:t>
            </a:r>
            <a:r>
              <a:rPr kumimoji="0" lang="en-GB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establishing a self-referencing (recursive) relationship. This relationship is managed carefully to avoid circular references by using</a:t>
            </a:r>
            <a:r>
              <a:rPr lang="en-US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 SET NULL </a:t>
            </a:r>
            <a:r>
              <a:rPr lang="en-GB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if the referring host is deleted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A6CD5-82E6-A270-2ABC-7286B1057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197" y="207045"/>
            <a:ext cx="6529085" cy="1543127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3A653-5C88-9BF8-B2E9-241D4EE8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B4C75-94D5-E65F-8E22-78C42DBD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72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92" y="207812"/>
            <a:ext cx="5516917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Host Table</a:t>
            </a:r>
          </a:p>
        </p:txBody>
      </p:sp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5965562" y="-2415139"/>
            <a:ext cx="15244731" cy="9136615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931C1D-EDFB-9649-E869-7ABD1ED20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383" y="42490"/>
            <a:ext cx="4559539" cy="32854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A0F0F4-234F-12F3-7C92-A3ED58495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9" y="3370425"/>
            <a:ext cx="5516917" cy="311123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83333-B2CC-20B3-51E8-44BFA132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6597" y="6492872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481C0-E75D-542E-BCD4-BDB990F7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69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9166941" y="1"/>
            <a:ext cx="18333882" cy="4512774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45" y="107138"/>
            <a:ext cx="5516917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Booking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331110" y="4512775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7890FB7-76D1-8A08-8350-386E41B8E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858" y="171179"/>
            <a:ext cx="3389563" cy="327682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7C2A1F1-DEEE-F4B1-AD8D-0AEBE92A68A3}"/>
              </a:ext>
            </a:extLst>
          </p:cNvPr>
          <p:cNvSpPr txBox="1"/>
          <p:nvPr/>
        </p:nvSpPr>
        <p:spPr>
          <a:xfrm>
            <a:off x="288141" y="2193283"/>
            <a:ext cx="818242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b="1" u="sng" dirty="0">
                <a:solidFill>
                  <a:schemeClr val="accent6"/>
                </a:solidFill>
                <a:latin typeface="Corbel (Body)"/>
              </a:rPr>
              <a:t>1. Roles: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Guests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Make and manage bookings.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Hosts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Monitor bookings and handle cancellations.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System Administrators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Oversee refunds and cancellations.</a:t>
            </a:r>
          </a:p>
          <a:p>
            <a:r>
              <a:rPr lang="en-GB" sz="1500" b="1" u="sng" dirty="0">
                <a:solidFill>
                  <a:schemeClr val="accent6"/>
                </a:solidFill>
                <a:latin typeface="Corbel (Body)"/>
              </a:rPr>
              <a:t>2. Actions: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Guests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Create, update, cancel bookings.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Hosts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Manage bookings and refunds.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System Administrators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Process refunds and maintain records.</a:t>
            </a:r>
          </a:p>
          <a:p>
            <a:r>
              <a:rPr lang="en-GB" sz="1500" b="1" u="sng" dirty="0">
                <a:solidFill>
                  <a:schemeClr val="accent6"/>
                </a:solidFill>
                <a:latin typeface="Corbel (Body)"/>
              </a:rPr>
              <a:t>3. Data </a:t>
            </a: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(summarized)</a:t>
            </a:r>
            <a:r>
              <a:rPr lang="en-GB" sz="1500" b="1" u="sng" dirty="0">
                <a:solidFill>
                  <a:schemeClr val="accent6"/>
                </a:solidFill>
                <a:latin typeface="Corbel (Body)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Guest &amp; Room Info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Links the booking to a guest (</a:t>
            </a:r>
            <a:r>
              <a:rPr lang="en-GB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GuestID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)/room (</a:t>
            </a:r>
            <a:r>
              <a:rPr lang="en-GB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RoomID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Booking &amp; Stay Details: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 booking date, check-in/check-out, stay length.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Payment Status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Shows total price, paid, pending, or </a:t>
            </a:r>
            <a:r>
              <a:rPr lang="en-GB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canceled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 status.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Cancellations/Refunds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Handles deadlines and refunds.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Host &amp; Event Info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Details such as host payout, event name, and event dates.</a:t>
            </a:r>
          </a:p>
          <a:p>
            <a:r>
              <a:rPr lang="en-GB" sz="1500" b="1" u="sng" dirty="0">
                <a:solidFill>
                  <a:schemeClr val="accent6"/>
                </a:solidFill>
                <a:latin typeface="Corbel (Body)"/>
              </a:rPr>
              <a:t>4. Relationships: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Guest - Booking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One guest, multiple bookings.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Room - Booking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One room, many bookings.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Transaction - Booking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Tracks payments and refunds.</a:t>
            </a:r>
          </a:p>
          <a:p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8D3B7-50A3-C3DE-CC84-F2CE6FF83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6802F-100F-B1A6-8B1A-2CFFDD05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77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9166941" y="1"/>
            <a:ext cx="18333882" cy="4512774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45" y="107138"/>
            <a:ext cx="5516917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Booking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331110" y="4512775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C511270-9CF5-7F10-248F-3E66511A4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4" y="787586"/>
            <a:ext cx="9048603" cy="26065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155349-6E15-FD26-3FE2-A23545A0F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92" y="3530656"/>
            <a:ext cx="9066416" cy="215185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20B73-710C-CC26-D9E3-AC0937FB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84B30-B80B-0F6E-387B-E3DE56C0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18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63" y="207812"/>
            <a:ext cx="6440269" cy="581598"/>
          </a:xfrm>
        </p:spPr>
        <p:txBody>
          <a:bodyPr anchor="b">
            <a:noAutofit/>
          </a:bodyPr>
          <a:lstStyle/>
          <a:p>
            <a:r>
              <a:rPr lang="en-US" sz="4000" dirty="0" err="1">
                <a:solidFill>
                  <a:srgbClr val="FFC000"/>
                </a:solidFill>
              </a:rPr>
              <a:t>TravelAdmin</a:t>
            </a:r>
            <a:r>
              <a:rPr lang="en-US" sz="40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814212" y="2879251"/>
            <a:ext cx="10559476" cy="417791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92530" y="-1847653"/>
            <a:ext cx="10559476" cy="5464882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C5E5AD-C019-9A43-8C24-2E4121CC61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094"/>
          <a:stretch/>
        </p:blipFill>
        <p:spPr>
          <a:xfrm>
            <a:off x="5983313" y="61227"/>
            <a:ext cx="2581512" cy="10454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C944A1-BED9-9F11-854F-33F5850A4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66" y="804892"/>
            <a:ext cx="3651008" cy="286058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716B126-BE66-DFA5-0CD2-020B6D3046DF}"/>
              </a:ext>
            </a:extLst>
          </p:cNvPr>
          <p:cNvSpPr txBox="1"/>
          <p:nvPr/>
        </p:nvSpPr>
        <p:spPr>
          <a:xfrm>
            <a:off x="170531" y="3799734"/>
            <a:ext cx="91054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u="sng" dirty="0">
                <a:solidFill>
                  <a:schemeClr val="accent6"/>
                </a:solidFill>
              </a:rPr>
              <a:t>1. Roles: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Travel Administrators: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Oversee guest bookings, cancellations, and other administrative tasks.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Oversee travel admin access and maintain their records.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2. Actions: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Travel Administrators: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Manage bookings and policies on behalf of guests.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Set up travel admin accounts and manage access.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3. Data (summarized):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AdminID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Unique identifier for the travel admin.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GuestID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Links each travel admin to a specific guest account for identity purposes.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Contact Information: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Includes name, email, and phone number.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4. Relationships: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 -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TravelAdmin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Each travel admin is associated with a guest account for identity verification.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FC001-9619-C4FB-4C1D-D9B9F55B5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7102" y="1181979"/>
            <a:ext cx="3871494" cy="286016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D86F5-2D9D-76A8-27C0-1E6DAA559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DBE60-507F-D875-4A28-15517317E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79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Reservation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425514" y="4138182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1153895" y="-572081"/>
            <a:ext cx="20287857" cy="499373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F0B3D2-4422-0285-6C9F-344D39E7F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247" y="208440"/>
            <a:ext cx="3046595" cy="1860652"/>
          </a:xfrm>
          <a:prstGeom prst="rect">
            <a:avLst/>
          </a:prstGeom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CB8E4C17-1C8B-66E1-6263-77A239D9C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58" y="1870774"/>
            <a:ext cx="8484122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+mj-lt"/>
              </a:rPr>
              <a:t>1. Roles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+mj-lt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Make reservations and manage payments.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Travel Admins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Monitor and manage reservations and cancellations.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Maintain reservation system integrity and handle platform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+mj-lt"/>
              </a:rPr>
              <a:t>2. Actions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+mj-lt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Create, update, or cancel reservations.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Travel Admins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Process and manage reservations, handle refunds, and apply cancellation policies.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Maintain system for booking, track cancellations and refunds.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+mj-lt"/>
              </a:rPr>
              <a:t>3. Data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+mj-lt"/>
              </a:rPr>
              <a:t> (summarized):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ReservationID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Unique ID for the reservation.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BookingID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Links to a specific booking.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AdminID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References the Travel Admin managing the reservation.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Reservation Details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Date of reservation, payment status, length of stay, cancellation and refund policies.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+mj-lt"/>
              </a:rPr>
              <a:t>4. Relationships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+mj-lt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Booking - Reservation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Each reservation is linked to a booking.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Admin - Reservation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</a:rPr>
              <a:t>: Admins are linked to reservations they manage.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92CCE-0FD7-1492-66AC-5920E009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703D0-83E7-3AD8-8627-BCC291975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04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Reservation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425514" y="4138182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1153895" y="-572081"/>
            <a:ext cx="20287857" cy="499373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260DDD-82C0-1CC4-D047-487BE35D34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69"/>
          <a:stretch/>
        </p:blipFill>
        <p:spPr>
          <a:xfrm>
            <a:off x="135765" y="727456"/>
            <a:ext cx="5478651" cy="282842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92CCE-0FD7-1492-66AC-5920E009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703D0-83E7-3AD8-8627-BCC291975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DB2B2A-6E55-100C-5444-AAB540943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65" y="3571741"/>
            <a:ext cx="6270945" cy="284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12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9144000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Transaction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214620" y="-929969"/>
            <a:ext cx="10559476" cy="7787969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 rot="10800000">
            <a:off x="4332177" y="-2026480"/>
            <a:ext cx="10559476" cy="5557404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66ECEA4-9891-BA3F-2CB6-713EDAB3C3A7}"/>
              </a:ext>
            </a:extLst>
          </p:cNvPr>
          <p:cNvSpPr txBox="1"/>
          <p:nvPr/>
        </p:nvSpPr>
        <p:spPr>
          <a:xfrm>
            <a:off x="126865" y="2964015"/>
            <a:ext cx="854013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u="sng" dirty="0">
                <a:solidFill>
                  <a:schemeClr val="accent6"/>
                </a:solidFill>
              </a:rPr>
              <a:t>1. Roles: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Can make payments and receive refunds related to their bookings.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Hosts: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Not directly involved but can view payment statuses of guests.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Manage payment processing and ensure refunds are correctly issued.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2. Actions: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Initiate payments or request refunds.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Process payments, handle refunds, and ensure transaction records are up to date.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3. Data (summarized):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TransactionID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Unique identifier for each transaction.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GuestID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&amp;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BookingID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Links the transaction to a specific guest and booking.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Amount: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total value of the transaction.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TransactionDate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&amp;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RefundDate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Tracks when transactions occur, including refund processing dates.</a:t>
            </a:r>
            <a:endParaRPr lang="en-GB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TransactionMethod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&amp; Type: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Specifies payment method and whether it's a payment or refund.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4. Relationships: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 - Transaction: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Each guest can have multiple transactions.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Booking - Transaction: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Each booking can be associated with multiple transactions.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4B551-248A-0CC8-429F-F573B5B93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65" y="964447"/>
            <a:ext cx="7580438" cy="199956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5ED3A4E-47B3-2225-0541-1B6C2C0B0CFC}"/>
              </a:ext>
            </a:extLst>
          </p:cNvPr>
          <p:cNvSpPr txBox="1"/>
          <p:nvPr/>
        </p:nvSpPr>
        <p:spPr>
          <a:xfrm>
            <a:off x="6214231" y="136525"/>
            <a:ext cx="2802904" cy="116955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 managing both payments and refunds in one table, it simplifies the payment process and reduces redundancy, ensuring accurate financial tracking for each booking.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6CD63-1149-50B7-399C-60755F9A0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88657-E8C3-9CF3-A7FC-71E1ED7B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41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9144000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Transaction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214620" y="-929969"/>
            <a:ext cx="10559476" cy="7787969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 rot="10800000">
            <a:off x="4332177" y="-2026480"/>
            <a:ext cx="10559476" cy="5557404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59D1F7A-6C9C-A67E-CD3E-C1EB1DCAB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6" y="709488"/>
            <a:ext cx="5972510" cy="30599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E8FCBC-F15A-6788-C68F-B89E7FE3C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6" y="3811124"/>
            <a:ext cx="6769567" cy="280840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15638-2324-0B12-343D-A86FB3B7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82079" y="6556141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3797E-17EA-05FD-8D21-FC3036D7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80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Review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1745617" y="4484015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92530" y="748013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30" name="Rectangle 1">
            <a:extLst>
              <a:ext uri="{FF2B5EF4-FFF2-40B4-BE49-F238E27FC236}">
                <a16:creationId xmlns:a16="http://schemas.microsoft.com/office/drawing/2014/main" id="{D950FC38-734C-78B7-4B45-CE96C4343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57" y="1441933"/>
            <a:ext cx="1012550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1. Roles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Provide reviews for stays.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Leave feedback on guests.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Manage review system and ensure quality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2. Actions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Write reviews for their bookings.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Review their guests' behavior and experience.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Ensure review integrity and manage feedbacks.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3. Data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 </a:t>
            </a: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(summarized):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ReviewID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Unique ID for each review.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BookingID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Links the review to a specific booking.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ReviewerID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The ID of the reviewer (either guest or host).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Review Details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Type (guest or host), rating, and comment with date.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4. Relationships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Booking - Review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A booking can have multiple reviews from guests and hosts.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Reviewer - Review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Reviews are linked to the user who left the review, whether guest or host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 (Body)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E36B65-052A-6EAD-CE1B-05C95D102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6B2064A-DA40-4230-A5DC-F4047519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34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Review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1745617" y="4484015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92530" y="748013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397130-2E93-7981-AEA4-F76C22FFE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3" y="3592716"/>
            <a:ext cx="4987879" cy="29730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9EF432-06A1-289D-12B4-873180661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730" y="98336"/>
            <a:ext cx="5414232" cy="3449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F0A405-571D-AF7A-F10B-4A8256224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608" y="761992"/>
            <a:ext cx="3819076" cy="161218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5431E10-CBEB-9652-4B9E-9B95748E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6597" y="6506851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6C4998-30E3-6E01-6D52-453FACF1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50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" y="-8522"/>
            <a:ext cx="10613800" cy="581598"/>
          </a:xfrm>
        </p:spPr>
        <p:txBody>
          <a:bodyPr anchor="b">
            <a:noAutofit/>
          </a:bodyPr>
          <a:lstStyle/>
          <a:p>
            <a:r>
              <a:rPr lang="en-US" sz="3600" dirty="0" err="1">
                <a:solidFill>
                  <a:srgbClr val="FFC000"/>
                </a:solidFill>
              </a:rPr>
              <a:t>CancellationPolicy</a:t>
            </a:r>
            <a:r>
              <a:rPr lang="en-US" sz="36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814212" y="2879251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1223623" y="3240772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E3AEFF2-FE68-DC25-5462-2F8B78090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" y="1954244"/>
            <a:ext cx="9146932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1. Roles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Follow cancellation policies before/after booking.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Set and manage cancellation policies for their listings.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Manage predefined policies and oversee updates.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2. Actions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Review and comply with cancellation terms.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Create or update policies for their listings.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Define, update, and remove policy types.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3. Data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PolicyID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kumimoji="0" lang="en-GB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Unique identifier for each cancellation policy, automatically incremented. 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rbel (Body)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PolicyName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kumimoji="0" lang="en-GB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The name of the cancellation policy (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Flexible, moderate, strict, etc.)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GB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Description: </a:t>
            </a:r>
            <a:r>
              <a:rPr kumimoji="0" lang="en-GB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Text description providing details about the policy, such as refund conditions and applicable timelines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4. Relationships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VacationRental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-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CancellationPolicy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kumimoji="0" lang="en-GB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Each vacation rental can be associated with a specific cancellation policy (one-to-many).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Booking -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CancellationPolicy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Booking is linked to the applicable cancellation policy.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D0264A-B88C-79DC-DC03-6296105BBA7B}"/>
              </a:ext>
            </a:extLst>
          </p:cNvPr>
          <p:cNvSpPr txBox="1"/>
          <p:nvPr/>
        </p:nvSpPr>
        <p:spPr>
          <a:xfrm>
            <a:off x="6161394" y="88577"/>
            <a:ext cx="2903609" cy="224676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CancellationPolicy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table defines different cancellation rules (as flexible, strict), while the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VacationRentalPolicy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table links each vacation rental to specific cancellation policies. This separation allows multiple vacation rentals to share the same cancellation policy, avoiding duplication and ensuring flexibility in assigning policies.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FF7C0D-42D6-4E96-0D85-1F48B8D18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1E800E7-4FE1-4104-5000-9029C865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35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" y="-8522"/>
            <a:ext cx="10613800" cy="581598"/>
          </a:xfrm>
        </p:spPr>
        <p:txBody>
          <a:bodyPr anchor="b">
            <a:noAutofit/>
          </a:bodyPr>
          <a:lstStyle/>
          <a:p>
            <a:r>
              <a:rPr lang="en-US" sz="3600" dirty="0" err="1">
                <a:solidFill>
                  <a:srgbClr val="FFC000"/>
                </a:solidFill>
              </a:rPr>
              <a:t>CancellationPolicy</a:t>
            </a:r>
            <a:r>
              <a:rPr lang="en-US" sz="36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4336277" y="-4864262"/>
            <a:ext cx="10559476" cy="7288348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1223623" y="3240772"/>
            <a:ext cx="10559476" cy="511688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4E6CE5-2E88-D0C0-929E-BB538B9A6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42" y="2197150"/>
            <a:ext cx="3869773" cy="38199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E3A0DD-C284-5EDF-C5BE-28406E7F3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349" y="2217303"/>
            <a:ext cx="3764117" cy="38272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4E6AD-C6F7-B452-4996-5805E64E8C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26" y="840902"/>
            <a:ext cx="3323241" cy="1066021"/>
          </a:xfrm>
          <a:prstGeom prst="rect">
            <a:avLst/>
          </a:prstGeom>
        </p:spPr>
      </p:pic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3620E8E-4A05-A417-45E9-231382016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FC3DD10-57BA-AE48-EF94-71FBA394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70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1203"/>
            <a:ext cx="10559476" cy="581598"/>
          </a:xfrm>
        </p:spPr>
        <p:txBody>
          <a:bodyPr anchor="b">
            <a:noAutofit/>
          </a:bodyPr>
          <a:lstStyle/>
          <a:p>
            <a:r>
              <a:rPr lang="en-US" sz="3600" dirty="0" err="1">
                <a:solidFill>
                  <a:srgbClr val="FFC000"/>
                </a:solidFill>
              </a:rPr>
              <a:t>VacationRentalPolicy</a:t>
            </a:r>
            <a:r>
              <a:rPr lang="en-US" sz="36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4388576" y="2702727"/>
            <a:ext cx="23522538" cy="5789930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609467" y="103575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8A989E-872C-598B-F26F-E91B2A8B5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28" y="925959"/>
            <a:ext cx="4308746" cy="11213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093798-BB03-43F0-9645-DE71ECA4A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557" y="67821"/>
            <a:ext cx="2972287" cy="2602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4BB0E5-579F-A1FE-0E5D-0B793617E9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764" y="324112"/>
            <a:ext cx="484270" cy="281904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9D2B929-8E41-D7B9-A322-D91B6A7EED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5943" y="691887"/>
            <a:ext cx="1224729" cy="2924848"/>
          </a:xfrm>
          <a:prstGeom prst="rect">
            <a:avLst/>
          </a:prstGeom>
        </p:spPr>
      </p:pic>
      <p:sp>
        <p:nvSpPr>
          <p:cNvPr id="27" name="Rectangle 1">
            <a:extLst>
              <a:ext uri="{FF2B5EF4-FFF2-40B4-BE49-F238E27FC236}">
                <a16:creationId xmlns:a16="http://schemas.microsoft.com/office/drawing/2014/main" id="{8F86E57F-12D3-8C86-9967-8B38A7670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" y="2231883"/>
            <a:ext cx="8854366" cy="4380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b="1" u="sng" kern="100" dirty="0">
                <a:solidFill>
                  <a:schemeClr val="accent6"/>
                </a:solidFill>
                <a:effectLst/>
                <a:latin typeface="Corbel (Body)"/>
                <a:ea typeface="Aptos" panose="020B0004020202020204" pitchFamily="34" charset="0"/>
                <a:cs typeface="Times New Roman" panose="02020603050405020304" pitchFamily="18" charset="0"/>
              </a:rPr>
              <a:t>1.  Roles:</a:t>
            </a:r>
            <a:endParaRPr lang="en-US" sz="1400" b="1" kern="100" dirty="0">
              <a:solidFill>
                <a:schemeClr val="accent6"/>
              </a:solidFill>
              <a:effectLst/>
              <a:latin typeface="Corbel (Body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Aft>
                <a:spcPct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Guests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Follow rental-specific policies during their stay.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Hosts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Define property rules and conditions.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System Administrators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Set general policies, ensuring they are followed.</a:t>
            </a:r>
          </a:p>
          <a:p>
            <a:pPr>
              <a:spcAft>
                <a:spcPts val="800"/>
              </a:spcAft>
            </a:pPr>
            <a:r>
              <a:rPr lang="en-US" sz="1400" b="1" u="sng" kern="100" dirty="0">
                <a:solidFill>
                  <a:schemeClr val="accent6"/>
                </a:solidFill>
                <a:effectLst/>
                <a:latin typeface="Corbel (Body)"/>
                <a:ea typeface="Aptos" panose="020B0004020202020204" pitchFamily="34" charset="0"/>
                <a:cs typeface="Times New Roman" panose="02020603050405020304" pitchFamily="18" charset="0"/>
              </a:rPr>
              <a:t>2.  Actions:</a:t>
            </a:r>
            <a:endParaRPr lang="en-US" sz="1400" b="1" kern="100" dirty="0">
              <a:solidFill>
                <a:schemeClr val="accent6"/>
              </a:solidFill>
              <a:effectLst/>
              <a:latin typeface="Corbel (Body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Guests: 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Review and agree to rental policies when booking.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Hosts: 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Create, manage  or update policies for their properties.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System Administrators: 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Define platform policies and assist hosts.</a:t>
            </a:r>
          </a:p>
          <a:p>
            <a:pPr>
              <a:spcAft>
                <a:spcPts val="800"/>
              </a:spcAft>
            </a:pPr>
            <a:r>
              <a:rPr lang="en-US" sz="1400" b="1" u="sng" kern="100" dirty="0">
                <a:solidFill>
                  <a:schemeClr val="accent6"/>
                </a:solidFill>
                <a:effectLst/>
                <a:latin typeface="Corbel (Body)"/>
                <a:ea typeface="Aptos" panose="020B0004020202020204" pitchFamily="34" charset="0"/>
                <a:cs typeface="Times New Roman" panose="02020603050405020304" pitchFamily="18" charset="0"/>
              </a:rPr>
              <a:t>3.  Data:</a:t>
            </a:r>
            <a:endParaRPr lang="en-US" sz="1400" b="1" kern="100" dirty="0">
              <a:solidFill>
                <a:schemeClr val="accent6"/>
              </a:solidFill>
              <a:effectLst/>
              <a:latin typeface="Corbel (Body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VacationRentalID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The unique identifier for the vacation rental property. It links this policy to a specific vacation rental.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  <a:latin typeface="Corbel (Body)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PolicyID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The unique identifier for the policy. It links a vacation rental to a specific policy, such as a cancellation policy.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PRIMARY KEY (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VacationRentalID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,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PolicyID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): 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This composite primary key ensures that each vacation rental is uniquely associated with a specific policy.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  <a:latin typeface="Corbel (Body)"/>
            </a:endParaRPr>
          </a:p>
          <a:p>
            <a:pPr>
              <a:spcAft>
                <a:spcPts val="800"/>
              </a:spcAft>
            </a:pPr>
            <a:r>
              <a:rPr lang="en-US" sz="1400" b="1" u="sng" kern="100" dirty="0">
                <a:solidFill>
                  <a:schemeClr val="accent6"/>
                </a:solidFill>
                <a:effectLst/>
                <a:latin typeface="Corbel (Body)"/>
                <a:ea typeface="Aptos" panose="020B0004020202020204" pitchFamily="34" charset="0"/>
                <a:cs typeface="Times New Roman" panose="02020603050405020304" pitchFamily="18" charset="0"/>
              </a:rPr>
              <a:t>4.  Relationships:</a:t>
            </a:r>
            <a:endParaRPr lang="en-US" sz="1400" b="1" kern="100" dirty="0">
              <a:solidFill>
                <a:schemeClr val="accent6"/>
              </a:solidFill>
              <a:effectLst/>
              <a:latin typeface="Corbel (Body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VacationRental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 - </a:t>
            </a:r>
            <a:r>
              <a:rPr lang="en-US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VacationRentalPolicy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A vacation rental can be linked to multiple policies (one-to-many).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  <a:latin typeface="Corbel (Body)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Policy - </a:t>
            </a:r>
            <a:r>
              <a:rPr lang="en-US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VacationRentalPolicy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: 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A policy can be applied to multiple vacation rentals (one-to-many).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B50F9-132A-3535-5663-2CBF6A91D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8457" y="6487145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5C990-8B6F-A2B1-EE3A-E4C180CB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681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536" y="188711"/>
            <a:ext cx="7774808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City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8058550" y="2160905"/>
            <a:ext cx="20520814" cy="5051074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7465426" y="-856501"/>
            <a:ext cx="17292164" cy="425636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5ED3A4E-47B3-2225-0541-1B6C2C0B0CFC}"/>
              </a:ext>
            </a:extLst>
          </p:cNvPr>
          <p:cNvSpPr txBox="1"/>
          <p:nvPr/>
        </p:nvSpPr>
        <p:spPr>
          <a:xfrm>
            <a:off x="6104943" y="51078"/>
            <a:ext cx="2992803" cy="18158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City table stores general information about cities, while the Location table links specific vacation rental addresses to a city. This separation allows multiple locations within the same city, providing flexibility and avoiding data duplication.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4757AD-1592-8538-0D9D-1CCD91FCD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825014"/>
            <a:ext cx="2945401" cy="1036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9EA04D-9495-6B4B-55F8-C572D1392C43}"/>
              </a:ext>
            </a:extLst>
          </p:cNvPr>
          <p:cNvSpPr txBox="1"/>
          <p:nvPr/>
        </p:nvSpPr>
        <p:spPr>
          <a:xfrm>
            <a:off x="3395717" y="2422133"/>
            <a:ext cx="637096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u="sng" dirty="0">
                <a:solidFill>
                  <a:schemeClr val="accent6"/>
                </a:solidFill>
              </a:rPr>
              <a:t>1. Roles: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View cities to find available rentals.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Hosts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Ensure city information is correct for their listings.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Manage and update city records.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2. Actions: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Search for rentals by city.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Hosts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Add or verify city names and countries for their listings.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Ensure unique and accurate city entries.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3. Data: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CityID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Unique identifier for each city.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CityName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Name of the city (Berlin, Paris, etc.).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Country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Location of country.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4. Relationships: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City - Location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Each city can have multiple linked locations (one-to-many).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3E3A99-5496-A17A-D995-0E4A8A2FB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4" y="770309"/>
            <a:ext cx="1784021" cy="32423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FEA3FC-E2EA-29AD-7DBD-F4529AC26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9060" y="3134294"/>
            <a:ext cx="1672990" cy="3222056"/>
          </a:xfrm>
          <a:prstGeom prst="rect">
            <a:avLst/>
          </a:prstGeom>
        </p:spPr>
      </p:pic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EBD5E2C-D64D-CBDD-40E7-89FF30C3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5D492EE-BE6E-8E02-5467-525969FC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18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" y="188711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Location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814212" y="2879251"/>
            <a:ext cx="16164306" cy="3978746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659118" y="632471"/>
            <a:ext cx="12126064" cy="2984757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5ED3A4E-47B3-2225-0541-1B6C2C0B0CFC}"/>
              </a:ext>
            </a:extLst>
          </p:cNvPr>
          <p:cNvSpPr txBox="1"/>
          <p:nvPr/>
        </p:nvSpPr>
        <p:spPr>
          <a:xfrm>
            <a:off x="223110" y="1228396"/>
            <a:ext cx="836160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b="1" u="sng" dirty="0">
                <a:solidFill>
                  <a:schemeClr val="accent6"/>
                </a:solidFill>
              </a:rPr>
              <a:t>1. Roles:</a:t>
            </a:r>
            <a:endParaRPr lang="en-GB" sz="15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Search and view detailed rental </a:t>
            </a:r>
          </a:p>
          <a:p>
            <a:pPr lvl="1"/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location information.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Hosts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Add or update specific location details </a:t>
            </a:r>
          </a:p>
          <a:p>
            <a:pPr lvl="1"/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for their properties.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Oversee and ensure correct location entries.</a:t>
            </a:r>
          </a:p>
          <a:p>
            <a:r>
              <a:rPr lang="en-GB" sz="1500" b="1" u="sng" dirty="0">
                <a:solidFill>
                  <a:schemeClr val="accent6"/>
                </a:solidFill>
              </a:rPr>
              <a:t>2. Actions: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Browse locations for vacation rentals.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Hosts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Enter specific location details  (address and contact).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Link locations to cities and maintain data accuracy.</a:t>
            </a:r>
          </a:p>
          <a:p>
            <a:r>
              <a:rPr lang="en-GB" sz="1500" b="1" u="sng" dirty="0">
                <a:solidFill>
                  <a:schemeClr val="accent6"/>
                </a:solidFill>
              </a:rPr>
              <a:t>3. Data: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LocationID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Unique identifier for each location.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CityID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Foreign key linking the location to a city.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Country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Country where the location is situated.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PartOfCity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Specific district or area within a city (Mitte, Montmartre, etc.).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Address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Full address of the rental property.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PhoneNumber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Contact phone number for the location.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Email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Contact email for inquiries.</a:t>
            </a:r>
          </a:p>
          <a:p>
            <a:r>
              <a:rPr lang="en-GB" sz="1500" b="1" u="sng" dirty="0">
                <a:solidFill>
                  <a:schemeClr val="accent6"/>
                </a:solidFill>
              </a:rPr>
              <a:t>4. Relationships: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Location - City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Each location is linked to one city (many-to-one).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D31D1-E2D1-C16F-E363-C5A1E814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C581C-CC1B-886C-77B6-266EEE80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35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" y="188711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Location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814212" y="2879251"/>
            <a:ext cx="16164306" cy="3978746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659118" y="632471"/>
            <a:ext cx="12126064" cy="2984757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1CED6B-A8F7-7615-849A-9FC78F7E4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299" y="590518"/>
            <a:ext cx="5691903" cy="2932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9D8945-2C00-B593-4D66-61FC013EE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17" y="3646383"/>
            <a:ext cx="5624169" cy="29847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B3EA2F-7D6F-FEEB-1005-DBAB55347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797" y="1101967"/>
            <a:ext cx="2901744" cy="1783081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0E26320-981C-B8C0-0A7E-2BDEE4AB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53721" y="6551025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B56132E-F079-720F-9F4E-DC78A23B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25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" y="176458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 err="1">
                <a:solidFill>
                  <a:srgbClr val="FFC000"/>
                </a:solidFill>
              </a:rPr>
              <a:t>CustomerService</a:t>
            </a:r>
            <a:r>
              <a:rPr lang="en-US" sz="40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3271733" y="758951"/>
            <a:ext cx="27800766" cy="6842990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912E83A9-C08A-A6D4-4602-C2E6F0CCD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58" y="1177106"/>
            <a:ext cx="9528370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1. Roles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kumimoji="0" lang="en-GB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Can request assistance related to their bookings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lang="en-GB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R</a:t>
            </a:r>
            <a:r>
              <a:rPr kumimoji="0" lang="en-GB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equest support regarding bookings or property issues.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Customer Service Representatives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Provides support and resolve issues for both guests and hosts.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Manage customer service requests and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500" b="1" u="sng" dirty="0">
                <a:solidFill>
                  <a:schemeClr val="accent6"/>
                </a:solidFill>
                <a:latin typeface="Corbel (Body)"/>
              </a:rPr>
              <a:t>2. </a:t>
            </a: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Actions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 &amp; Hosts: </a:t>
            </a:r>
            <a:r>
              <a:rPr kumimoji="0" lang="en-GB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Submit service requests related to bookings</a:t>
            </a:r>
            <a:r>
              <a:rPr kumimoji="0" lang="en-GB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Customer Service Representatives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lang="en-US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scalate and resolve issues.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Track service requests, improve service quality, and find 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3. Data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CustomerServiceID</a:t>
            </a:r>
            <a:r>
              <a:rPr kumimoji="0" lang="en-GB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kumimoji="0" lang="en-GB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Unique identifier for each service request.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BookingID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kumimoji="0" lang="en-GB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Links the request to the specific booking.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IssueDescription</a:t>
            </a:r>
            <a:r>
              <a:rPr kumimoji="0" lang="en-GB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kumimoji="0" lang="en-GB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Detailed description of the problem or concern.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Resolution: </a:t>
            </a:r>
            <a:r>
              <a:rPr kumimoji="0" lang="en-GB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Type of resolution offered for the issue.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ContactMethod</a:t>
            </a:r>
            <a:r>
              <a:rPr kumimoji="0" lang="en-GB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kumimoji="0" lang="en-GB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How the customer was contacted (phone, email.)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ResolutionDate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Records the date the request was submitted.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4. Relationships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CustomerService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- Booking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Each customer service entry is linke</a:t>
            </a:r>
            <a:r>
              <a:rPr lang="en-US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d to a specific booking (</a:t>
            </a:r>
            <a:r>
              <a:rPr lang="en-US" alt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BookingID</a:t>
            </a:r>
            <a:r>
              <a:rPr lang="en-US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).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Booking -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CustomerService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One booking can be associated with multiple customer service issues.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9F346A-0E27-66ED-AA5A-4A7F1FB9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76322-5D9A-9906-DF54-56A29E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61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" y="176458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 err="1">
                <a:solidFill>
                  <a:srgbClr val="FFC000"/>
                </a:solidFill>
              </a:rPr>
              <a:t>CustomerService</a:t>
            </a:r>
            <a:r>
              <a:rPr lang="en-US" sz="40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3271733" y="758951"/>
            <a:ext cx="27800766" cy="6842990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8AF53A-76B8-53DE-21CD-BEABA829E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9" y="1506529"/>
            <a:ext cx="5591113" cy="36449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11FD83-75B4-1D67-C9FB-C9A30B019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5457" y="3531761"/>
            <a:ext cx="4367552" cy="2621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18CFC3-7F6C-0622-ACCE-333E72AC8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175495"/>
            <a:ext cx="3362609" cy="1537859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3B11D-445C-2B5E-4684-0D43F29E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5B3A99B-CE9F-06A8-36DD-223770D3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491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63" y="207812"/>
            <a:ext cx="6440269" cy="581598"/>
          </a:xfrm>
        </p:spPr>
        <p:txBody>
          <a:bodyPr anchor="b">
            <a:noAutofit/>
          </a:bodyPr>
          <a:lstStyle/>
          <a:p>
            <a:r>
              <a:rPr lang="en-US" sz="4000" dirty="0" err="1">
                <a:solidFill>
                  <a:srgbClr val="FFC000"/>
                </a:solidFill>
              </a:rPr>
              <a:t>SocialNetwork</a:t>
            </a:r>
            <a:r>
              <a:rPr lang="en-US" sz="40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5410985" y="2304359"/>
            <a:ext cx="17068346" cy="4201270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4727390" y="-328984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1" name="Rectangle 1">
            <a:extLst>
              <a:ext uri="{FF2B5EF4-FFF2-40B4-BE49-F238E27FC236}">
                <a16:creationId xmlns:a16="http://schemas.microsoft.com/office/drawing/2014/main" id="{44B6417F-1C25-5783-5268-249282E62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24" y="2424543"/>
            <a:ext cx="9051976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1. Roles: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 and Hosts: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Use their social network accounts to link profiles or authenticate on the platform.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Manage the supported social networks available for account linking or sharing purposes.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2. Actions: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 and Hosts: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Link their social media accounts to the platform, such as Facebook, Twitter, or Instagram.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Add new social network platforms and manage their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3. Data: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NetworkID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Unique identifier for each social network.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NetworkName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The name of the social network (Facebook, Instagram, etc.).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URL: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The base URL for the social network (</a:t>
            </a:r>
            <a:r>
              <a:rPr kumimoji="0" lang="en-US" altLang="en-US" sz="1500" b="0" i="0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www.facebook.com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4. Relationships: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GuestSocialNetwork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-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SocialNetwork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Guests and hosts can link their social media accounts, which are referenced from the social network table (many-to-one relationship).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449325-FC82-33F4-3CF2-CCA4EA0B843B}"/>
              </a:ext>
            </a:extLst>
          </p:cNvPr>
          <p:cNvSpPr txBox="1"/>
          <p:nvPr/>
        </p:nvSpPr>
        <p:spPr>
          <a:xfrm>
            <a:off x="5442619" y="77785"/>
            <a:ext cx="3622389" cy="22467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SocialNetwork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table stores information about social media platforms, including the name and URL of each network (e.g., Facebook, Twitter). </a:t>
            </a:r>
          </a:p>
          <a:p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GuestSocialNetwork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table links guests to their social media profiles by referencing both the 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and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SocialNetwork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tables. It allows guests to associate specific social media profiles (e.g., profile URL) with the social networks they use.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654D6-5C28-6030-2488-0C81522A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9E10A-9465-7663-5133-EA49B89C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217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63" y="207812"/>
            <a:ext cx="6440269" cy="581598"/>
          </a:xfrm>
        </p:spPr>
        <p:txBody>
          <a:bodyPr anchor="b">
            <a:noAutofit/>
          </a:bodyPr>
          <a:lstStyle/>
          <a:p>
            <a:r>
              <a:rPr lang="en-US" sz="4000" dirty="0" err="1">
                <a:solidFill>
                  <a:srgbClr val="FFC000"/>
                </a:solidFill>
              </a:rPr>
              <a:t>SocialNetwork</a:t>
            </a:r>
            <a:r>
              <a:rPr lang="en-US" sz="40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5410985" y="2304359"/>
            <a:ext cx="17068346" cy="4201270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4727390" y="-328984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46752BE-DE89-5C19-27B1-127FC993D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462" y="1551184"/>
            <a:ext cx="3066791" cy="42953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C4B85F-45DE-9D9B-DA92-6DFDA82BF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347" y="1599054"/>
            <a:ext cx="3442353" cy="4247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ED965E-DF1B-CD51-1C6F-BAA103C99B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347" y="420942"/>
            <a:ext cx="3188133" cy="1041588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9E70748-5E1A-B6AF-9395-1B50FA9D4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47B43DE-06FC-752F-BE74-DF3511A5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45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9660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 err="1">
                <a:solidFill>
                  <a:srgbClr val="FFC000"/>
                </a:solidFill>
              </a:rPr>
              <a:t>GuestSocialNetwork</a:t>
            </a:r>
            <a:r>
              <a:rPr lang="en-US" sz="40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2050333" y="1091604"/>
            <a:ext cx="6570520" cy="161729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1566191" y="1"/>
            <a:ext cx="28591624" cy="7037655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F4BFE95-3586-22DB-2181-40B1117F1935}"/>
              </a:ext>
            </a:extLst>
          </p:cNvPr>
          <p:cNvSpPr txBox="1"/>
          <p:nvPr/>
        </p:nvSpPr>
        <p:spPr>
          <a:xfrm>
            <a:off x="229539" y="1729238"/>
            <a:ext cx="8581296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b="1" u="sng" dirty="0">
                <a:solidFill>
                  <a:schemeClr val="accent6"/>
                </a:solidFill>
              </a:rPr>
              <a:t>1. Roles:</a:t>
            </a:r>
            <a:endParaRPr lang="en-GB" sz="15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Link their social network profiles to their accounts.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Ensure that guest profiles are properly linked to their social media accounts.</a:t>
            </a:r>
          </a:p>
          <a:p>
            <a:r>
              <a:rPr lang="en-GB" sz="1500" b="1" u="sng" dirty="0">
                <a:solidFill>
                  <a:schemeClr val="accent6"/>
                </a:solidFill>
              </a:rPr>
              <a:t>2. Actions:</a:t>
            </a:r>
            <a:endParaRPr lang="en-GB" sz="15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Add or update social network profile information.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Maintain social network connections.</a:t>
            </a:r>
          </a:p>
          <a:p>
            <a:r>
              <a:rPr lang="en-GB" sz="1500" b="1" u="sng" dirty="0">
                <a:solidFill>
                  <a:schemeClr val="accent6"/>
                </a:solidFill>
              </a:rPr>
              <a:t>3. Data:</a:t>
            </a:r>
            <a:endParaRPr lang="en-GB" sz="15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GuestSocialNetworkID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Unique identifier for each guest's social network post.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GuestID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Links the social network profile to the guest's account.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NetworkID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Identifies the social network (Facebook, Twitter, etc.).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ProfileURL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The URL to the guest’s profile on the social network.</a:t>
            </a:r>
          </a:p>
          <a:p>
            <a:r>
              <a:rPr lang="en-GB" sz="1500" b="1" u="sng" dirty="0">
                <a:solidFill>
                  <a:schemeClr val="accent6"/>
                </a:solidFill>
              </a:rPr>
              <a:t>4. Relationships:</a:t>
            </a:r>
            <a:endParaRPr lang="en-GB" sz="15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 - </a:t>
            </a:r>
            <a:r>
              <a:rPr lang="en-GB" sz="15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GuestSocialNetwork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A guest can have multiple social network profiles linked to their account.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5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SocialNetwork</a:t>
            </a:r>
            <a:r>
              <a:rPr lang="en-GB" sz="15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- </a:t>
            </a:r>
            <a:r>
              <a:rPr lang="en-GB" sz="15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GuestSocialNetwork</a:t>
            </a:r>
            <a:r>
              <a:rPr lang="en-GB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A social network (Facebook, etc.) can be associated with multiple guests.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B8883-5E3E-C53E-C9A7-03E6BE312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FE9A1-CDF8-8D0E-F148-73501EBE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05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9660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 err="1">
                <a:solidFill>
                  <a:srgbClr val="FFC000"/>
                </a:solidFill>
              </a:rPr>
              <a:t>GuestSocialNetwork</a:t>
            </a:r>
            <a:r>
              <a:rPr lang="en-US" sz="40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814212" y="2879251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8808367" y="-1"/>
            <a:ext cx="28591624" cy="7037655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6D17CA-A462-2443-5F0A-7C395C2C5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6" y="2348003"/>
            <a:ext cx="3554489" cy="303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C207E9-9AEA-0F2A-CB66-6C84BFDCC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63" y="2651123"/>
            <a:ext cx="3559690" cy="34152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123DBB-3B34-E41B-03BD-CCCA81A8F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9048" y="2336392"/>
            <a:ext cx="4935463" cy="37299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89FA6C-AB11-665D-E118-260B71702B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86" y="846337"/>
            <a:ext cx="3760256" cy="139916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F4386F2-E2D7-0F76-41AC-987B8CE4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AB0EF90-F02B-F70F-277B-F52E722F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90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29" y="270943"/>
            <a:ext cx="10814918" cy="581598"/>
          </a:xfrm>
        </p:spPr>
        <p:txBody>
          <a:bodyPr anchor="b">
            <a:noAutofit/>
          </a:bodyPr>
          <a:lstStyle/>
          <a:p>
            <a:r>
              <a:rPr lang="en-US" sz="4000">
                <a:solidFill>
                  <a:srgbClr val="FFC000"/>
                </a:solidFill>
              </a:rPr>
              <a:t>Amenity Table</a:t>
            </a:r>
            <a:endParaRPr lang="en-US" sz="4000" dirty="0">
              <a:solidFill>
                <a:srgbClr val="FFC000"/>
              </a:solidFill>
            </a:endParaRP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691664" y="3617228"/>
            <a:ext cx="22907670" cy="5638584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92530" y="1018077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B308239-7C6E-6569-BB32-8A4EC59FAD54}"/>
              </a:ext>
            </a:extLst>
          </p:cNvPr>
          <p:cNvSpPr txBox="1"/>
          <p:nvPr/>
        </p:nvSpPr>
        <p:spPr>
          <a:xfrm>
            <a:off x="5379740" y="311472"/>
            <a:ext cx="3588062" cy="18158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</a:t>
            </a:r>
            <a:r>
              <a:rPr lang="en-GB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VacationRentalAmenity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Table is a junction (associative) table that connects the </a:t>
            </a:r>
            <a:r>
              <a:rPr lang="en-GB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VacationRental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table and the Amenity table. </a:t>
            </a:r>
          </a:p>
          <a:p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It handles the many-to-many relationship between vacation rentals and amenities. </a:t>
            </a:r>
          </a:p>
          <a:p>
            <a:endParaRPr lang="en-GB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Each row in this table represents one amenity being available at one specific vacation rental.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D1AF256A-27F8-A3A5-598D-74FDE41C6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52" y="2344330"/>
            <a:ext cx="83263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1. Roles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View available amenities at vacation rentals.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Define and list amenities provided in their properties.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Oversee amenity listings across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2. Actions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Check amenities while booking a property.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Add, update, or remove amenities for their properties.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500" b="1" u="sng" dirty="0">
                <a:solidFill>
                  <a:schemeClr val="accent6"/>
                </a:solidFill>
                <a:latin typeface="Corbel (Body)"/>
              </a:rPr>
              <a:t>3. Data: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AmenityID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kumimoji="0" lang="en-GB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Unique identifier for each amenity (Primary Key).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AmenityName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Wi-Fi, Pool, Parking, etc.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Description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Details or extra information about the amenity.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4. Relationships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No Direct Relationships: </a:t>
            </a:r>
            <a:r>
              <a:rPr kumimoji="0" lang="en-GB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The Amenity table does not contain any foreign keys and therefore does not have direct relationships with other tables.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Lookup Table: </a:t>
            </a:r>
            <a:r>
              <a:rPr kumimoji="0" lang="en-GB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It serves as a reference table, where each amenity (Wi-Fi, Pool</a:t>
            </a:r>
            <a:r>
              <a:rPr lang="en-GB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, etc.</a:t>
            </a:r>
            <a:r>
              <a:rPr kumimoji="0" lang="en-GB" altLang="en-US" sz="150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) can be referenced elsewhere in the system, such as in a junction table that links properties to amenities.</a:t>
            </a:r>
            <a:endParaRPr kumimoji="0" lang="en-US" altLang="en-US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rbel (Body)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97FA3-6540-9A52-8A2C-4BB4C459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5CCFA-A270-4590-B81A-660B670A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73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29" y="270943"/>
            <a:ext cx="10814918" cy="581598"/>
          </a:xfrm>
        </p:spPr>
        <p:txBody>
          <a:bodyPr anchor="b">
            <a:noAutofit/>
          </a:bodyPr>
          <a:lstStyle/>
          <a:p>
            <a:r>
              <a:rPr lang="en-US" sz="4000">
                <a:solidFill>
                  <a:srgbClr val="FFC000"/>
                </a:solidFill>
              </a:rPr>
              <a:t>Amenity Table</a:t>
            </a:r>
            <a:endParaRPr lang="en-US" sz="4000" dirty="0">
              <a:solidFill>
                <a:srgbClr val="FFC000"/>
              </a:solidFill>
            </a:endParaRP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2713552" y="3096341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92530" y="1018077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69D2241-1FB7-9A10-06CD-474ED31BB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278" y="2208052"/>
            <a:ext cx="3501607" cy="36041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B8A173-FD0D-BDF7-7366-79BA86A8F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457" y="2230825"/>
            <a:ext cx="3400881" cy="36090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8ADEF8-43F8-5E40-5A65-7AB491D3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278" y="1018077"/>
            <a:ext cx="3213529" cy="103896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13A5E-7F73-ED4F-5C16-4A3D3B2F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4066C-3F20-CC78-402B-F642B553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83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584461" y="-329123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00" y="136524"/>
            <a:ext cx="10814918" cy="581598"/>
          </a:xfrm>
        </p:spPr>
        <p:txBody>
          <a:bodyPr anchor="b">
            <a:noAutofit/>
          </a:bodyPr>
          <a:lstStyle/>
          <a:p>
            <a:r>
              <a:rPr lang="en-US" sz="4000" dirty="0" err="1">
                <a:solidFill>
                  <a:srgbClr val="FFC000"/>
                </a:solidFill>
              </a:rPr>
              <a:t>VacationRentalAmenity</a:t>
            </a:r>
            <a:r>
              <a:rPr lang="en-US" sz="40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289734" y="5669230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836581-DA04-677C-0D27-3836DC083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44" y="698448"/>
            <a:ext cx="4336563" cy="11136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D2E1C7-7542-D5C9-F240-3F6E030A5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231" y="698448"/>
            <a:ext cx="3318430" cy="321498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C8E7EDD-3CBB-41DA-B5C6-0A381F46447B}"/>
              </a:ext>
            </a:extLst>
          </p:cNvPr>
          <p:cNvSpPr txBox="1"/>
          <p:nvPr/>
        </p:nvSpPr>
        <p:spPr>
          <a:xfrm>
            <a:off x="3519307" y="2137708"/>
            <a:ext cx="54990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u="sng" dirty="0">
                <a:solidFill>
                  <a:schemeClr val="accent6"/>
                </a:solidFill>
              </a:rPr>
              <a:t>1. Roles: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View available amenities when booking a vacation rental.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Hosts: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Define and manage the amenities offered at their vacation rentals.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Oversee and ensure the proper linking of amenities to vacation rentals.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2. Actions: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View amenities during the booking process.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Hosts: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Assign or update amenities for each rental property.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Maintain the database structure, ensure accurate linking of rentals and amenities.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3. Data: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VacationRentalID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Unique identifier linking a vacation rental to specific amenities.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AmenityID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Unique identifier for each amenity (Wi-Fi, Pool, etc.).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4. Relationships: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VacationRental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-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VacationRentalAmenity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Each vacation rental can have multiple amenities.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Amenity -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VacationRentalAmenity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Each amenity can be linked to multiple vacation rentals (many-to-many relationship).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C43CC-DD4F-7C5E-9C41-A294AC1B36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884" y="4039465"/>
            <a:ext cx="1146805" cy="268828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8EE8A-37AA-3EDF-E703-02A275FC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6597" y="6421797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F2BB4-35F4-3F45-C576-DA2DE802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04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" y="255617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Room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7251071" y="-1422400"/>
            <a:ext cx="25970036" cy="6392367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5ED3A4E-47B3-2225-0541-1B6C2C0B0CFC}"/>
              </a:ext>
            </a:extLst>
          </p:cNvPr>
          <p:cNvSpPr txBox="1"/>
          <p:nvPr/>
        </p:nvSpPr>
        <p:spPr>
          <a:xfrm>
            <a:off x="4769797" y="136524"/>
            <a:ext cx="4239489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</a:t>
            </a:r>
            <a:r>
              <a:rPr lang="en-GB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Room</a:t>
            </a:r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table represents individual units or spaces within a vacation rental, such as a suite or deluxe room, with specific details like room type and nightly price.</a:t>
            </a:r>
          </a:p>
          <a:p>
            <a:endParaRPr lang="en-GB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</a:t>
            </a:r>
            <a:r>
              <a:rPr lang="en-GB" sz="1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VacationRental</a:t>
            </a:r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table on the other hand refers to the entire property available for rent, like a house or apartment, and includes general property details such as location, maximum guests, and amenities available for the whole rental.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2B3AF616-EC08-039C-CBD7-69F6EE1AE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85" y="1961557"/>
            <a:ext cx="8734604" cy="475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1. Roles: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View room availability and pricing when searching for vacation rentals.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Define room types, pricing, and availability for their vacation rental properties.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Ensure data integrity and maintain the association between vacation rentals and rooms.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2. Actions: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Search for available rooms, price and dates.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Add, update, or remove room details including availability, pricing, and room type.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Oversee room data, ensuring it is accurate and linked to the correct vacation rentals.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3. Data: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RoomID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Unique identifier for each room.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VacationRentalID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Links the room to a specific vacation rental.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RoomType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Specifies the type of room (e.g., single, double, suite).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PricePerNight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The nightly rate for the room.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AvailableFrom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&amp;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AvailableTo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Specifies the availability date range of the room.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4. Relationships:</a:t>
            </a:r>
            <a:endParaRPr kumimoji="0" lang="en-US" altLang="en-US" sz="1500" b="0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VacationRental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-Room: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Each room is associated with a specific vacation rental, and a vacation rental can have multiple rooms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 (Body)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4EAB94-260A-C4C2-A6CE-E114CFFB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F5B3D-B331-E1A5-14E3-D85DFCC5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77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" y="255617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Room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6836074" y="651424"/>
            <a:ext cx="25970036" cy="6392367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540672-3D0E-18E8-5A95-A751DE343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14" y="2548255"/>
            <a:ext cx="4437286" cy="33406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BDFAAD-8038-0B3B-B909-1BB1EEA84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220" y="2548255"/>
            <a:ext cx="4271772" cy="3352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02ED44-2207-EACE-31D1-E9787C0DE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14" y="1100626"/>
            <a:ext cx="3871678" cy="131110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46FF398-CDE4-1C82-7EC9-42177E0E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9EC98-AE0B-3998-DCBE-23A4362B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87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 err="1">
                <a:solidFill>
                  <a:srgbClr val="FFC000"/>
                </a:solidFill>
              </a:rPr>
              <a:t>VacationRental</a:t>
            </a:r>
            <a:r>
              <a:rPr lang="en-US" sz="4000" dirty="0">
                <a:solidFill>
                  <a:srgbClr val="FFC000"/>
                </a:solidFill>
              </a:rPr>
              <a:t> Table 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 rot="10800000">
            <a:off x="6097404" y="2902687"/>
            <a:ext cx="11007288" cy="4810776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4195916" y="-1500168"/>
            <a:ext cx="10559476" cy="4333665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51" name="Rectangle 4">
            <a:extLst>
              <a:ext uri="{FF2B5EF4-FFF2-40B4-BE49-F238E27FC236}">
                <a16:creationId xmlns:a16="http://schemas.microsoft.com/office/drawing/2014/main" id="{1B7E419D-3C19-8828-8152-EE41DACE6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7" y="1151304"/>
            <a:ext cx="9351367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1. Roles: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Browse and book vacation rentals.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Manage the details of their vacation rentals.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Oversee and maintain the accuracy of vacation rental data.</a:t>
            </a:r>
            <a:endParaRPr kumimoji="0" lang="en-US" altLang="en-US" sz="1500" b="1" i="0" u="sng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Corbel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2. Actions: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Search and view rental details, book rentals based on availability.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Create, update, or remove their vacation rentals.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Ensure rental data is up to date, monitor system-wide records.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rbel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3. Data: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VacationRentalID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Unique identifier for each rental property.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Links the rental to the host.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LocationID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Links the rental to a specific location.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PropertyType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The type of rental (loft, villa, etc.).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MaxGuests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</a:t>
            </a:r>
            <a:r>
              <a:rPr lang="en-US" alt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rbel (Body)"/>
              </a:rPr>
              <a:t>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llowed maximum number of guests.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RatePerPerson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Price charged per person.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CalendarAvailability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Availability of the rental property.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Proximity Details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Distance to beach, shops, sightseeing.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Other Features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Own bathroom, dog-friendly, free parking, number of beds.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rbel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4. Relationships: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  -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VacationRental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Each vacation rental is linked to a host (via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Location -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VacationRental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Each rental is connected to a specific location (via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LocationID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).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07F066-E309-F01A-48BB-56C98D8E4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F7745-1DB1-E767-D7E7-D1B58E7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11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 err="1">
                <a:solidFill>
                  <a:srgbClr val="FFC000"/>
                </a:solidFill>
              </a:rPr>
              <a:t>VacationRental</a:t>
            </a:r>
            <a:r>
              <a:rPr lang="en-US" sz="4000" dirty="0">
                <a:solidFill>
                  <a:srgbClr val="FFC000"/>
                </a:solidFill>
              </a:rPr>
              <a:t> Table 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814212" y="2879251"/>
            <a:ext cx="10559476" cy="4615058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92530" y="-716437"/>
            <a:ext cx="10559476" cy="4333665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FF7817-1F6F-4CC1-4AE2-BAF92FCCF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8" y="4289088"/>
            <a:ext cx="9144000" cy="23489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129D8C-5525-E0B0-A106-BE9B140F9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73875"/>
            <a:ext cx="6370800" cy="3592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5C7798-5337-ECB1-D1D4-3CED2C9B4F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148" y="673875"/>
            <a:ext cx="2763890" cy="2600925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D55DEBD-2083-DD4F-F077-FB80ADD94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439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2428CAE-4696-6854-52E4-CD706F09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89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Notification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469973" y="4989377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92530" y="1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46A2A6-DCCF-3F7D-BE39-915EC0B0B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653" y="3911908"/>
            <a:ext cx="2949754" cy="11127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4991E2-DB3C-A154-6437-8C9E42681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46" y="712664"/>
            <a:ext cx="3873331" cy="2977988"/>
          </a:xfrm>
          <a:prstGeom prst="rect">
            <a:avLst/>
          </a:prstGeom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83CC7DD2-F952-60BF-BB51-0D2FA42CF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5" y="3735166"/>
            <a:ext cx="1003778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1. Roles</a:t>
            </a:r>
            <a:r>
              <a:rPr kumimoji="0" lang="en-US" altLang="en-US" sz="14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Receive and view notifications.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Manage notifications sent to guests.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2. Actions</a:t>
            </a:r>
            <a:r>
              <a:rPr kumimoji="0" lang="en-US" altLang="en-US" sz="14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View and respond to notifications.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Create and send notifications to guests.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3. Data</a:t>
            </a:r>
            <a:r>
              <a:rPr kumimoji="0" lang="en-US" altLang="en-US" sz="14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NotificationID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Unique identifier for each notification.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Links the notification to a specific guest.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Content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The message or content of the notification.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Timestamp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The date and time when the notification was created.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4. Relationships</a:t>
            </a:r>
            <a:r>
              <a:rPr kumimoji="0" lang="en-US" altLang="en-US" sz="14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 - Notification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Each notification is linked to one guest, but a guest can have multiple notifications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 (Body)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07DB26-4D98-B6FD-1863-102FB19633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2505" y="708431"/>
            <a:ext cx="4083389" cy="297798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1AA93-7C85-BE3B-AF51-65C1C51E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52753" y="6537389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8570D-6DB6-3856-A6D2-5E062550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366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Promotion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814212" y="2879251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92530" y="1018077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5ED3A4E-47B3-2225-0541-1B6C2C0B0CFC}"/>
              </a:ext>
            </a:extLst>
          </p:cNvPr>
          <p:cNvSpPr txBox="1"/>
          <p:nvPr/>
        </p:nvSpPr>
        <p:spPr>
          <a:xfrm>
            <a:off x="5947221" y="273935"/>
            <a:ext cx="3015972" cy="16004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Promotion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table is linked to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VacationRental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and manages discounts and special offers which affects the price guests pay indirectly. It influences the rental price without being directly tied to the payments table.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ECC18038-28D7-B0FD-2173-3AC775462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90" y="2063940"/>
            <a:ext cx="918205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1. Roles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View promotions for properties they are interested in.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Create and manage promotions for their vacation rentals.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Oversee and maintain promotional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2. Actions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Guests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View and apply promotions when booking rentals.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Hosts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Create and update promotions for their properties.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System Administrators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Ensure proper application and visibility of promotions.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3. Data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PromotionID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Unique identifier for each promotion.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VacationRentalID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Links the promotion to a specific vacation rental.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DiscountPercentage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The discount amount offered through the promotion.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StartDate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&amp;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EndDate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The period during which the promotion is active.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4. Relationships</a:t>
            </a:r>
            <a:r>
              <a:rPr kumimoji="0" lang="en-US" altLang="en-US" sz="1500" b="0" i="0" u="sng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Corbel (Body)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VacationRental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 - Promotion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: Each promotion is tied to one vacation rental, but a rental can have multiple promotions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 (Body)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 (Body)"/>
              </a:rPr>
              <a:t>at different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ECD7E-8382-695A-06C4-588D4F5F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35092-9F91-9C37-DD3B-29FB7AA8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759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Promotion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814212" y="2879251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92530" y="1018077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5526797-2331-670E-222E-680A250D2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88" y="2007462"/>
            <a:ext cx="4354212" cy="35270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3086B3-DF08-845A-6108-577EEC1CB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480" y="1993383"/>
            <a:ext cx="4210732" cy="3543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B87CE1-9E1F-3CB5-10BA-1A32B96B90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5480" y="668840"/>
            <a:ext cx="3873817" cy="1181076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F920A51-3C0A-0DCA-61F2-3AB5A990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FAC614-C12D-E8C9-B4D8-F5B648CA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395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 err="1">
                <a:solidFill>
                  <a:srgbClr val="FFC000"/>
                </a:solidFill>
              </a:rPr>
              <a:t>LoginHistory</a:t>
            </a:r>
            <a:r>
              <a:rPr lang="en-US" sz="4000" dirty="0">
                <a:solidFill>
                  <a:srgbClr val="FFC000"/>
                </a:solidFill>
              </a:rPr>
              <a:t>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4511814" y="1696826"/>
            <a:ext cx="10559476" cy="5956738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3864262" y="-1213110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464189-DA42-D70F-174D-EBE9FA67BB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868"/>
          <a:stretch/>
        </p:blipFill>
        <p:spPr>
          <a:xfrm>
            <a:off x="5974967" y="395604"/>
            <a:ext cx="3023366" cy="120461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32362F-0EC5-8EDD-33D2-86F7C257D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0" y="820070"/>
            <a:ext cx="3034822" cy="323198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77849F3-657F-0152-74F8-437ECA468F37}"/>
              </a:ext>
            </a:extLst>
          </p:cNvPr>
          <p:cNvSpPr txBox="1"/>
          <p:nvPr/>
        </p:nvSpPr>
        <p:spPr>
          <a:xfrm>
            <a:off x="3434468" y="2030348"/>
            <a:ext cx="57692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u="sng" dirty="0">
                <a:solidFill>
                  <a:schemeClr val="accent6"/>
                </a:solidFill>
              </a:rPr>
              <a:t>1. Roles: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Guests/Hosts: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Their login activity is tracked for security and monitoring purposes.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Monitor user activity and maintain security measures.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2. Actions: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Guests/Hosts: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Log in to the system.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Track and review login activity, ensure system security.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3. Data: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LoginHistoryID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Unique identifier for each login session.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UserID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Refers to the guest or host who logged in.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LoginTime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Timestamp indicating when the user logged in.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LogoutTime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Timestamp indicating when the user logged out.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IPAddress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IP address used during login.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4. Relationships: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User -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LoginHistory</a:t>
            </a: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Each user can have multiple login entries recorded.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03B65A-17A8-2076-FA0D-BF2F879E10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704" y="4111296"/>
            <a:ext cx="2247545" cy="2703027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4BE2-3F5E-D9E5-41CA-554DE660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DLBDSPBDM01 - Anita Skynar - 92124577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B4C06-9AED-65DB-B347-0005604B0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219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" y="166160"/>
            <a:ext cx="7953306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Event Table</a:t>
            </a:r>
          </a:p>
        </p:txBody>
      </p:sp>
      <p:pic>
        <p:nvPicPr>
          <p:cNvPr id="8" name="Picture 7" descr="Illuminated server room panel">
            <a:extLst>
              <a:ext uri="{FF2B5EF4-FFF2-40B4-BE49-F238E27FC236}">
                <a16:creationId xmlns:a16="http://schemas.microsoft.com/office/drawing/2014/main" id="{6A5AE0E7-7842-4351-FC43-6741FF053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6814212" y="2879251"/>
            <a:ext cx="10559476" cy="259915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9" name="Picture 8" descr="Illuminated server room panel">
            <a:extLst>
              <a:ext uri="{FF2B5EF4-FFF2-40B4-BE49-F238E27FC236}">
                <a16:creationId xmlns:a16="http://schemas.microsoft.com/office/drawing/2014/main" id="{94460EBD-EFF3-AAD6-B9C6-82F40A4E3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-14982029" y="822020"/>
            <a:ext cx="25448975" cy="6264111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892A86-BB0E-2E5C-16A8-A83174C1A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726" y="155091"/>
            <a:ext cx="2758632" cy="1266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2903A5-AD72-8525-3C21-75BB6064D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06" y="816527"/>
            <a:ext cx="4456793" cy="2444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6DAC37-A6F1-0CB9-3F4D-3FC8CADA91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05" y="1061014"/>
            <a:ext cx="4456793" cy="26385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57B6527-E324-8EFD-4600-53C428FBB08D}"/>
              </a:ext>
            </a:extLst>
          </p:cNvPr>
          <p:cNvSpPr txBox="1"/>
          <p:nvPr/>
        </p:nvSpPr>
        <p:spPr>
          <a:xfrm>
            <a:off x="4677165" y="1655721"/>
            <a:ext cx="440391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u="sng" dirty="0">
                <a:solidFill>
                  <a:schemeClr val="accent6"/>
                </a:solidFill>
              </a:rPr>
              <a:t>1. Roles: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Attend or view information about events linked to their bookings.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Hosts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Can view any events related to their rental bookings.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Link events to relevant bookings or update event details.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2. Actions: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Guests &amp; Hosts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View event details linked to their bookings.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Administrators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Ensure event and booking relationships are maintained.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3. Data: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EventID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Unique identifier for each event.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BookingID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Links the event to a specific booking.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EventName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The name or title of the event.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StartDate &amp; </a:t>
            </a:r>
            <a:r>
              <a:rPr lang="en-GB" sz="1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EndDate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Of an event.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Description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Additional details about the event.</a:t>
            </a:r>
          </a:p>
          <a:p>
            <a:r>
              <a:rPr lang="en-GB" sz="1400" b="1" u="sng" dirty="0">
                <a:solidFill>
                  <a:schemeClr val="accent6"/>
                </a:solidFill>
              </a:rPr>
              <a:t>4. Relationships:</a:t>
            </a:r>
            <a:endParaRPr lang="en-GB" sz="1400" u="sng" dirty="0">
              <a:solidFill>
                <a:schemeClr val="accent6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Booking-Event</a:t>
            </a:r>
            <a:r>
              <a:rPr lang="en-GB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One booking can have multiple events associated with it (one-to-many relationship).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7CAC7C-A66D-EFFF-1BEE-BC7D778DA3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06" y="3765310"/>
            <a:ext cx="4051167" cy="271323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454D5-4B5D-BE9B-8E8C-6D6B54F7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2762" y="6500036"/>
            <a:ext cx="3086100" cy="365125"/>
          </a:xfrm>
        </p:spPr>
        <p:txBody>
          <a:bodyPr/>
          <a:lstStyle/>
          <a:p>
            <a:r>
              <a:rPr lang="en-US"/>
              <a:t>DLBDSPBDM01 - Anita Skynar - 92124577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C8F0C-66A2-EE0F-E89C-728B19F9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956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Diagram&#10;&#10;Description automatically generated with low confidence">
            <a:extLst>
              <a:ext uri="{FF2B5EF4-FFF2-40B4-BE49-F238E27FC236}">
                <a16:creationId xmlns:a16="http://schemas.microsoft.com/office/drawing/2014/main" id="{D08B0707-51BA-D27A-5A7F-D4FF4EFD2D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5" r="51005"/>
          <a:stretch/>
        </p:blipFill>
        <p:spPr bwMode="auto">
          <a:xfrm>
            <a:off x="-112223" y="-3580324"/>
            <a:ext cx="6169470" cy="9256646"/>
          </a:xfrm>
          <a:prstGeom prst="rect">
            <a:avLst/>
          </a:prstGeom>
          <a:effectLst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38" y="0"/>
            <a:ext cx="608736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7404" y="1"/>
            <a:ext cx="3046595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8472"/>
            <a:ext cx="2438400" cy="58159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Test Cases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ED3A4E-47B3-2225-0541-1B6C2C0B0CFC}"/>
              </a:ext>
            </a:extLst>
          </p:cNvPr>
          <p:cNvSpPr txBox="1"/>
          <p:nvPr/>
        </p:nvSpPr>
        <p:spPr>
          <a:xfrm>
            <a:off x="3285425" y="1111143"/>
            <a:ext cx="57285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query joins 5 tables: Booking, Guest, Room, </a:t>
            </a:r>
            <a:r>
              <a:rPr lang="en-GB" altLang="en-US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VacationRental</a:t>
            </a:r>
            <a:r>
              <a:rPr lang="en-GB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and Host, retrieving guest name, booking details, property type, and host rating using inner joins on related foreign keys.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DD2A18-0C83-4A78-D303-42E4765918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520" r="26447"/>
          <a:stretch/>
        </p:blipFill>
        <p:spPr>
          <a:xfrm>
            <a:off x="124188" y="820070"/>
            <a:ext cx="2722708" cy="18254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F17887D-706E-99C6-AFA7-363FFE5BD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920" y="1904679"/>
            <a:ext cx="4956933" cy="7005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C3D2CB0-C4CA-9246-E45A-3125D84D34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188" y="4662553"/>
            <a:ext cx="2848324" cy="201731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EAD2764-4A9F-AD8D-C77C-17D26D3CCA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8579" y="5926499"/>
            <a:ext cx="5580057" cy="70000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33CA603-AF16-6C07-AD8F-D8D9988113C9}"/>
              </a:ext>
            </a:extLst>
          </p:cNvPr>
          <p:cNvSpPr txBox="1"/>
          <p:nvPr/>
        </p:nvSpPr>
        <p:spPr>
          <a:xfrm>
            <a:off x="41254" y="2798969"/>
            <a:ext cx="68801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query joins 3 tables: Transaction, Booking, and Guest. It retrieves guest payment and booking details, with transaction information, including both payments and refunds, based on the </a:t>
            </a:r>
            <a:r>
              <a:rPr lang="en-GB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TransactionType</a:t>
            </a:r>
            <a:r>
              <a:rPr lang="en-GB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field. The results are ordered by the transaction date to display the most recent transactions first.</a:t>
            </a:r>
            <a:endParaRPr lang="en-GB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12B83E-3634-0DCE-7BB9-5C4414054AE6}"/>
              </a:ext>
            </a:extLst>
          </p:cNvPr>
          <p:cNvSpPr txBox="1"/>
          <p:nvPr/>
        </p:nvSpPr>
        <p:spPr>
          <a:xfrm>
            <a:off x="3355405" y="4599376"/>
            <a:ext cx="57285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query joins 6 tables: Guest, Booking, Review, </a:t>
            </a:r>
            <a:r>
              <a:rPr lang="en-GB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CustomerService</a:t>
            </a:r>
            <a:r>
              <a:rPr lang="en-GB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Room, </a:t>
            </a:r>
            <a:r>
              <a:rPr lang="en-GB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VacationRental</a:t>
            </a:r>
            <a:r>
              <a:rPr lang="en-GB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and Host, retrieving guest name, property type, review rating and comment, customer service details, and host information using both inner and left joins on related foreign keys.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1EA107-AB97-1D80-B0EE-72A5D738838D}"/>
              </a:ext>
            </a:extLst>
          </p:cNvPr>
          <p:cNvSpPr txBox="1"/>
          <p:nvPr/>
        </p:nvSpPr>
        <p:spPr>
          <a:xfrm>
            <a:off x="15572" y="2492601"/>
            <a:ext cx="9128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FC000"/>
                </a:solidFill>
              </a:rPr>
              <a:t>________________________________________________________________________________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10BE8B-52B3-2759-256E-4D0AB7EB53A8}"/>
              </a:ext>
            </a:extLst>
          </p:cNvPr>
          <p:cNvSpPr txBox="1"/>
          <p:nvPr/>
        </p:nvSpPr>
        <p:spPr>
          <a:xfrm>
            <a:off x="41253" y="4277538"/>
            <a:ext cx="9597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FC000"/>
                </a:solidFill>
              </a:rPr>
              <a:t>________________________________________________________________________________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0C4BDF-AD45-8E3E-66C9-3E238C6FFDC4}"/>
              </a:ext>
            </a:extLst>
          </p:cNvPr>
          <p:cNvSpPr txBox="1"/>
          <p:nvPr/>
        </p:nvSpPr>
        <p:spPr>
          <a:xfrm>
            <a:off x="3285425" y="162463"/>
            <a:ext cx="6087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FFC000"/>
                </a:solidFill>
              </a:rPr>
              <a:t>Test cases are queries that verify if the data and design are correct, using joins to extract data from three or more tables.</a:t>
            </a:r>
            <a:endParaRPr lang="en-US" sz="1600" dirty="0">
              <a:solidFill>
                <a:srgbClr val="FFC000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472287F-F99A-A0A4-C620-F66EF097E3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8638" y="2819799"/>
            <a:ext cx="2132072" cy="170288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D56A818-4B81-43BA-1921-1962BC1AF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489" y="3854322"/>
            <a:ext cx="5929796" cy="66372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1D923-DA09-4304-C587-A3BFD91F1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2389" y="6557282"/>
            <a:ext cx="3086100" cy="365125"/>
          </a:xfrm>
        </p:spPr>
        <p:txBody>
          <a:bodyPr/>
          <a:lstStyle/>
          <a:p>
            <a:r>
              <a:rPr lang="en-US" dirty="0"/>
              <a:t>DLBDSPBDM01 - Anita Skynar - 92124577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C21C8-E624-EC23-1C70-3B486CDEA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068D32-F28C-B9FA-7D5D-BE47ABD3E84A}"/>
              </a:ext>
            </a:extLst>
          </p:cNvPr>
          <p:cNvSpPr txBox="1">
            <a:spLocks/>
          </p:cNvSpPr>
          <p:nvPr/>
        </p:nvSpPr>
        <p:spPr>
          <a:xfrm>
            <a:off x="8223259" y="6538913"/>
            <a:ext cx="34526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43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168015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Illuminated server room panel">
            <a:extLst>
              <a:ext uri="{FF2B5EF4-FFF2-40B4-BE49-F238E27FC236}">
                <a16:creationId xmlns:a16="http://schemas.microsoft.com/office/drawing/2014/main" id="{7B3A9063-6BAE-F776-33E5-C577246BEB7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12000"/>
            <a:grayscl/>
          </a:blip>
          <a:srcRect t="2702"/>
          <a:stretch/>
        </p:blipFill>
        <p:spPr>
          <a:xfrm>
            <a:off x="-5374229" y="-18501034"/>
            <a:ext cx="12706932" cy="13145022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42C12F7-AE9B-40D2-A6C4-2F1B6BC860EE}"/>
              </a:ext>
            </a:extLst>
          </p:cNvPr>
          <p:cNvSpPr txBox="1"/>
          <p:nvPr/>
        </p:nvSpPr>
        <p:spPr>
          <a:xfrm>
            <a:off x="0" y="277724"/>
            <a:ext cx="58601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Data Population &amp; Testing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FDAB13B-B190-9ABA-85E5-2DD99282C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837" y="1747596"/>
            <a:ext cx="3009733" cy="188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Data Population:</a:t>
            </a:r>
          </a:p>
          <a:p>
            <a:pPr marL="0" lvl="1" defTabSz="685800">
              <a:lnSpc>
                <a:spcPct val="90000"/>
              </a:lnSpc>
              <a:spcBef>
                <a:spcPts val="750"/>
              </a:spcBef>
            </a:pPr>
            <a:r>
              <a:rPr lang="en-GB" sz="20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Each table was populated with at least 20 entries to ensure that the database could be effectively tested and validated.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8C7646-A98D-D8C1-D904-FC3C306F3FE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412"/>
          <a:stretch/>
        </p:blipFill>
        <p:spPr>
          <a:xfrm>
            <a:off x="150312" y="1597492"/>
            <a:ext cx="4974014" cy="217910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8D447A2-A089-75DF-651F-F23123C3BDE2}"/>
              </a:ext>
            </a:extLst>
          </p:cNvPr>
          <p:cNvSpPr txBox="1"/>
          <p:nvPr/>
        </p:nvSpPr>
        <p:spPr>
          <a:xfrm>
            <a:off x="150312" y="4615636"/>
            <a:ext cx="4672208" cy="161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Validation and Testing:</a:t>
            </a:r>
          </a:p>
          <a:p>
            <a:pPr marL="0" lvl="1" defTabSz="685800">
              <a:lnSpc>
                <a:spcPct val="90000"/>
              </a:lnSpc>
              <a:spcBef>
                <a:spcPts val="750"/>
              </a:spcBef>
            </a:pPr>
            <a:r>
              <a:rPr lang="en-GB" sz="20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Test cases were conducted to verify the integrity of the design, ensuring that the database accurately reflected the ER model and performed as expected.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CA44B82-4FF1-3BCA-4CBB-483ABA7B85E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490" t="1721" r="20344" b="-1721"/>
          <a:stretch/>
        </p:blipFill>
        <p:spPr>
          <a:xfrm>
            <a:off x="4646599" y="4388479"/>
            <a:ext cx="4411744" cy="1806612"/>
          </a:xfrm>
          <a:prstGeom prst="rect">
            <a:avLst/>
          </a:prstGeom>
        </p:spPr>
      </p:pic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1C2CD22F-E249-6AD5-6BAA-5DE4A01C79DE}"/>
              </a:ext>
            </a:extLst>
          </p:cNvPr>
          <p:cNvSpPr txBox="1">
            <a:spLocks/>
          </p:cNvSpPr>
          <p:nvPr/>
        </p:nvSpPr>
        <p:spPr>
          <a:xfrm>
            <a:off x="4015077" y="6583831"/>
            <a:ext cx="30861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DLBDSPBDM01 - Anita Skynar - 92124577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123C3382-3D5B-16B3-5311-827707601D57}"/>
              </a:ext>
            </a:extLst>
          </p:cNvPr>
          <p:cNvSpPr txBox="1">
            <a:spLocks/>
          </p:cNvSpPr>
          <p:nvPr/>
        </p:nvSpPr>
        <p:spPr>
          <a:xfrm>
            <a:off x="8219088" y="6492875"/>
            <a:ext cx="34526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44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19797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Illuminated server room panel">
            <a:extLst>
              <a:ext uri="{FF2B5EF4-FFF2-40B4-BE49-F238E27FC236}">
                <a16:creationId xmlns:a16="http://schemas.microsoft.com/office/drawing/2014/main" id="{904FB0C2-9E79-E30F-4FB9-6C1D66BED0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2000"/>
            <a:grayscl/>
          </a:blip>
          <a:srcRect t="2702"/>
          <a:stretch/>
        </p:blipFill>
        <p:spPr>
          <a:xfrm>
            <a:off x="0" y="-59498"/>
            <a:ext cx="10742704" cy="6976996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42C12F7-AE9B-40D2-A6C4-2F1B6BC860EE}"/>
              </a:ext>
            </a:extLst>
          </p:cNvPr>
          <p:cNvSpPr txBox="1"/>
          <p:nvPr/>
        </p:nvSpPr>
        <p:spPr>
          <a:xfrm>
            <a:off x="132604" y="277605"/>
            <a:ext cx="58601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Integrity Check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FDAB13B-B190-9ABA-85E5-2DD99282C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667" y="1245837"/>
            <a:ext cx="3497333" cy="1610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Procedure:</a:t>
            </a:r>
          </a:p>
          <a:p>
            <a:pPr marL="0" lvl="1" defTabSz="685800">
              <a:lnSpc>
                <a:spcPct val="90000"/>
              </a:lnSpc>
              <a:spcBef>
                <a:spcPts val="750"/>
              </a:spcBef>
            </a:pPr>
            <a:r>
              <a:rPr lang="en-GB" sz="20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A SQL query was performed to identify ´Booking´ records without valid ´Guest´ references using a ´Left Join´.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EFB86-C737-9C6F-3C1F-634C1F7B7A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96" r="74787" b="72144"/>
          <a:stretch/>
        </p:blipFill>
        <p:spPr>
          <a:xfrm>
            <a:off x="275315" y="5542547"/>
            <a:ext cx="1762449" cy="4533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3C7542-BDA9-8C90-EC80-AEA9E7DB4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73" y="1376204"/>
            <a:ext cx="4824089" cy="1170983"/>
          </a:xfrm>
          <a:prstGeom prst="rect">
            <a:avLst/>
          </a:prstGeom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2E6001CC-B111-85D6-ECDB-70C700652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73" y="5033785"/>
            <a:ext cx="5681963" cy="1672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solidFill>
                  <a:schemeClr val="tx2">
                    <a:lumMod val="75000"/>
                  </a:schemeClr>
                </a:solidFill>
              </a:rPr>
              <a:t>Outcome:</a:t>
            </a:r>
          </a:p>
          <a:p>
            <a:endParaRPr lang="en-GB" sz="200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GB"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lvl="1" defTabSz="685800">
              <a:lnSpc>
                <a:spcPct val="90000"/>
              </a:lnSpc>
              <a:spcBef>
                <a:spcPts val="750"/>
              </a:spcBef>
            </a:pPr>
            <a:r>
              <a:rPr lang="en-GB" sz="20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The empty result grid confirms all bookings are correctly linked to guests, ensuring data integrity.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FF0521-B121-3ADD-EE4B-921207EDD0CA}"/>
              </a:ext>
            </a:extLst>
          </p:cNvPr>
          <p:cNvSpPr txBox="1"/>
          <p:nvPr/>
        </p:nvSpPr>
        <p:spPr>
          <a:xfrm>
            <a:off x="1071698" y="3377227"/>
            <a:ext cx="7153562" cy="132343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Ensuring that all bookings are correctly linked to guests prevents orphaned records, which could lead to inconsistent data and errors in reports or queries. </a:t>
            </a:r>
          </a:p>
          <a:p>
            <a:r>
              <a:rPr lang="en-GB" sz="20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rPr>
              <a:t>This check helps maintain data reliability across the platform.</a:t>
            </a:r>
            <a:endParaRPr lang="en-US" sz="2000" dirty="0">
              <a:gradFill>
                <a:gsLst>
                  <a:gs pos="15000">
                    <a:schemeClr val="tx2"/>
                  </a:gs>
                  <a:gs pos="73000">
                    <a:schemeClr val="tx2">
                      <a:lumMod val="60000"/>
                      <a:lumOff val="40000"/>
                    </a:schemeClr>
                  </a:gs>
                  <a:gs pos="0">
                    <a:schemeClr val="tx1"/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16200000" scaled="1"/>
              </a:gra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30346-95A5-84CB-15D8-DDACF60828CB}"/>
              </a:ext>
            </a:extLst>
          </p:cNvPr>
          <p:cNvSpPr txBox="1"/>
          <p:nvPr/>
        </p:nvSpPr>
        <p:spPr>
          <a:xfrm>
            <a:off x="3477491" y="6627168"/>
            <a:ext cx="21691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DLBDSPBDM01 - Anita Skynar - 92124577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FBCB610-B2E8-8538-3BFA-EFEAFB3E68B8}"/>
              </a:ext>
            </a:extLst>
          </p:cNvPr>
          <p:cNvSpPr txBox="1">
            <a:spLocks/>
          </p:cNvSpPr>
          <p:nvPr/>
        </p:nvSpPr>
        <p:spPr>
          <a:xfrm>
            <a:off x="8219088" y="6443944"/>
            <a:ext cx="34526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45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240131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Depth">
    <a:dk1>
      <a:sysClr val="windowText" lastClr="000000"/>
    </a:dk1>
    <a:lt1>
      <a:sysClr val="window" lastClr="FFFFFF"/>
    </a:lt1>
    <a:dk2>
      <a:srgbClr val="455F51"/>
    </a:dk2>
    <a:lt2>
      <a:srgbClr val="94D7E4"/>
    </a:lt2>
    <a:accent1>
      <a:srgbClr val="41AEBD"/>
    </a:accent1>
    <a:accent2>
      <a:srgbClr val="97E9D5"/>
    </a:accent2>
    <a:accent3>
      <a:srgbClr val="A2CF49"/>
    </a:accent3>
    <a:accent4>
      <a:srgbClr val="608F3D"/>
    </a:accent4>
    <a:accent5>
      <a:srgbClr val="F4DE3A"/>
    </a:accent5>
    <a:accent6>
      <a:srgbClr val="FCB11C"/>
    </a:accent6>
    <a:hlink>
      <a:srgbClr val="FBCA98"/>
    </a:hlink>
    <a:folHlink>
      <a:srgbClr val="D3B86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32071</TotalTime>
  <Words>4919</Words>
  <Application>Microsoft Office PowerPoint</Application>
  <PresentationFormat>On-screen Show (4:3)</PresentationFormat>
  <Paragraphs>571</Paragraphs>
  <Slides>46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Arial</vt:lpstr>
      <vt:lpstr>Corbel</vt:lpstr>
      <vt:lpstr>Corbel (Body)</vt:lpstr>
      <vt:lpstr>Depth</vt:lpstr>
      <vt:lpstr> Phase 2  Development  Phase Airbnb Database</vt:lpstr>
      <vt:lpstr> Table of Contents  </vt:lpstr>
      <vt:lpstr>Introduction</vt:lpstr>
      <vt:lpstr>     Setting Up MySQL Workbench</vt:lpstr>
      <vt:lpstr>Entity Relationship Model (ERM)</vt:lpstr>
      <vt:lpstr>Database Setup</vt:lpstr>
      <vt:lpstr>Guest Table</vt:lpstr>
      <vt:lpstr>Guest Table</vt:lpstr>
      <vt:lpstr>Host Table</vt:lpstr>
      <vt:lpstr>Host Table</vt:lpstr>
      <vt:lpstr>Booking Table</vt:lpstr>
      <vt:lpstr>Booking Table</vt:lpstr>
      <vt:lpstr>TravelAdmin Table</vt:lpstr>
      <vt:lpstr>Reservation Table</vt:lpstr>
      <vt:lpstr>Reservation Table</vt:lpstr>
      <vt:lpstr>Transaction Table</vt:lpstr>
      <vt:lpstr>Transaction Table</vt:lpstr>
      <vt:lpstr>Review Table</vt:lpstr>
      <vt:lpstr>Review Table</vt:lpstr>
      <vt:lpstr>CancellationPolicy Table</vt:lpstr>
      <vt:lpstr>CancellationPolicy Table</vt:lpstr>
      <vt:lpstr>VacationRentalPolicy Table</vt:lpstr>
      <vt:lpstr>City Table</vt:lpstr>
      <vt:lpstr>Location Table</vt:lpstr>
      <vt:lpstr>Location Table</vt:lpstr>
      <vt:lpstr>CustomerService Table</vt:lpstr>
      <vt:lpstr>CustomerService Table</vt:lpstr>
      <vt:lpstr>SocialNetwork Table</vt:lpstr>
      <vt:lpstr>SocialNetwork Table</vt:lpstr>
      <vt:lpstr>GuestSocialNetwork Table</vt:lpstr>
      <vt:lpstr>GuestSocialNetwork Table</vt:lpstr>
      <vt:lpstr>Amenity Table</vt:lpstr>
      <vt:lpstr>Amenity Table</vt:lpstr>
      <vt:lpstr>VacationRentalAmenity Table</vt:lpstr>
      <vt:lpstr>Room Table</vt:lpstr>
      <vt:lpstr>Room Table</vt:lpstr>
      <vt:lpstr>VacationRental Table </vt:lpstr>
      <vt:lpstr>VacationRental Table </vt:lpstr>
      <vt:lpstr>Notification Table</vt:lpstr>
      <vt:lpstr>Promotion Table</vt:lpstr>
      <vt:lpstr>Promotion Table</vt:lpstr>
      <vt:lpstr>LoginHistory Table</vt:lpstr>
      <vt:lpstr>Event Table</vt:lpstr>
      <vt:lpstr>Test Cases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</dc:creator>
  <cp:keywords/>
  <dc:description>generated using python-pptx</dc:description>
  <cp:lastModifiedBy>Skynar, Anita</cp:lastModifiedBy>
  <cp:revision>31</cp:revision>
  <dcterms:created xsi:type="dcterms:W3CDTF">2013-01-27T09:14:16Z</dcterms:created>
  <dcterms:modified xsi:type="dcterms:W3CDTF">2024-09-24T15:14:58Z</dcterms:modified>
  <cp:category/>
</cp:coreProperties>
</file>